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Arimo Bold" charset="1" panose="020B0704020202020204"/>
      <p:regular r:id="rId38"/>
    </p:embeddedFont>
    <p:embeddedFont>
      <p:font typeface="Arimo" charset="1" panose="020B0604020202020204"/>
      <p:regular r:id="rId39"/>
    </p:embeddedFont>
    <p:embeddedFont>
      <p:font typeface="JetBrains Mono" charset="1" panose="02010509020102050004"/>
      <p:regular r:id="rId40"/>
    </p:embeddedFont>
    <p:embeddedFont>
      <p:font typeface="JetBrains Mono Bold" charset="1" panose="02010809030102050004"/>
      <p:regular r:id="rId41"/>
    </p:embeddedFont>
    <p:embeddedFont>
      <p:font typeface="Arimo Italics" charset="1" panose="020B060402020209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10316" y="0"/>
            <a:ext cx="8977684" cy="10287000"/>
            <a:chOff x="0" y="0"/>
            <a:chExt cx="11970245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197025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970258">
                  <a:moveTo>
                    <a:pt x="0" y="0"/>
                  </a:moveTo>
                  <a:lnTo>
                    <a:pt x="11970258" y="0"/>
                  </a:lnTo>
                  <a:lnTo>
                    <a:pt x="1197025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0" t="0" r="-5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310316" cy="10287000"/>
            <a:chOff x="0" y="0"/>
            <a:chExt cx="12413755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137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413742">
                  <a:moveTo>
                    <a:pt x="0" y="0"/>
                  </a:moveTo>
                  <a:lnTo>
                    <a:pt x="12413742" y="0"/>
                  </a:lnTo>
                  <a:lnTo>
                    <a:pt x="1241374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D1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619080"/>
            <a:ext cx="1885950" cy="428625"/>
            <a:chOff x="0" y="0"/>
            <a:chExt cx="2514600" cy="57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4600" cy="571500"/>
            </a:xfrm>
            <a:custGeom>
              <a:avLst/>
              <a:gdLst/>
              <a:ahLst/>
              <a:cxnLst/>
              <a:rect r="r" b="b" t="t" l="l"/>
              <a:pathLst>
                <a:path h="571500" w="2514600">
                  <a:moveTo>
                    <a:pt x="0" y="0"/>
                  </a:moveTo>
                  <a:lnTo>
                    <a:pt x="2514600" y="0"/>
                  </a:lnTo>
                  <a:lnTo>
                    <a:pt x="25146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982120"/>
            <a:ext cx="7481516" cy="14288"/>
            <a:chOff x="0" y="0"/>
            <a:chExt cx="9975355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75342" cy="19050"/>
            </a:xfrm>
            <a:custGeom>
              <a:avLst/>
              <a:gdLst/>
              <a:ahLst/>
              <a:cxnLst/>
              <a:rect r="r" b="b" t="t" l="l"/>
              <a:pathLst>
                <a:path h="19050" w="9975342">
                  <a:moveTo>
                    <a:pt x="0" y="0"/>
                  </a:moveTo>
                  <a:lnTo>
                    <a:pt x="9975342" y="0"/>
                  </a:lnTo>
                  <a:lnTo>
                    <a:pt x="997534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3409655"/>
            <a:ext cx="7410079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58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Red Team Assessment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234283"/>
            <a:ext cx="935189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F4444"/>
                </a:solidFill>
                <a:latin typeface="Arimo Bold"/>
                <a:ea typeface="Arimo Bold"/>
                <a:cs typeface="Arimo Bold"/>
                <a:sym typeface="Arimo Bold"/>
              </a:rPr>
              <a:t>Attack · Detect · Defend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843883"/>
            <a:ext cx="857250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 local operation against a containerized image classifier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4425" y="2704805"/>
            <a:ext cx="16287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ATLAS ALIGNED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71800" y="2704805"/>
            <a:ext cx="2714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EF444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SECURITY ASSESSMENT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7329783"/>
            <a:ext cx="251817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Kirubel M. Sahle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4416" y="7353595"/>
            <a:ext cx="1000125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3831727"/>
            <a:ext cx="5195964" cy="3157538"/>
            <a:chOff x="0" y="0"/>
            <a:chExt cx="6927952" cy="4210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7977" cy="4210050"/>
            </a:xfrm>
            <a:custGeom>
              <a:avLst/>
              <a:gdLst/>
              <a:ahLst/>
              <a:cxnLst/>
              <a:rect r="r" b="b" t="t" l="l"/>
              <a:pathLst>
                <a:path h="4210050" w="6927977">
                  <a:moveTo>
                    <a:pt x="0" y="229616"/>
                  </a:moveTo>
                  <a:cubicBezTo>
                    <a:pt x="0" y="102743"/>
                    <a:pt x="102743" y="0"/>
                    <a:pt x="229616" y="0"/>
                  </a:cubicBezTo>
                  <a:lnTo>
                    <a:pt x="6698361" y="0"/>
                  </a:lnTo>
                  <a:cubicBezTo>
                    <a:pt x="6825234" y="0"/>
                    <a:pt x="6927977" y="102743"/>
                    <a:pt x="6927977" y="229616"/>
                  </a:cubicBezTo>
                  <a:lnTo>
                    <a:pt x="6927977" y="3980434"/>
                  </a:lnTo>
                  <a:cubicBezTo>
                    <a:pt x="6927977" y="4107307"/>
                    <a:pt x="6825234" y="4210050"/>
                    <a:pt x="6698361" y="4210050"/>
                  </a:cubicBezTo>
                  <a:lnTo>
                    <a:pt x="229616" y="4210050"/>
                  </a:lnTo>
                  <a:cubicBezTo>
                    <a:pt x="102743" y="4210050"/>
                    <a:pt x="0" y="4107307"/>
                    <a:pt x="0" y="398043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546132" y="3831727"/>
            <a:ext cx="5195964" cy="3157538"/>
            <a:chOff x="0" y="0"/>
            <a:chExt cx="6927952" cy="4210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27977" cy="4210050"/>
            </a:xfrm>
            <a:custGeom>
              <a:avLst/>
              <a:gdLst/>
              <a:ahLst/>
              <a:cxnLst/>
              <a:rect r="r" b="b" t="t" l="l"/>
              <a:pathLst>
                <a:path h="4210050" w="6927977">
                  <a:moveTo>
                    <a:pt x="0" y="229616"/>
                  </a:moveTo>
                  <a:cubicBezTo>
                    <a:pt x="0" y="102743"/>
                    <a:pt x="102743" y="0"/>
                    <a:pt x="229616" y="0"/>
                  </a:cubicBezTo>
                  <a:lnTo>
                    <a:pt x="6698361" y="0"/>
                  </a:lnTo>
                  <a:cubicBezTo>
                    <a:pt x="6825234" y="0"/>
                    <a:pt x="6927977" y="102743"/>
                    <a:pt x="6927977" y="229616"/>
                  </a:cubicBezTo>
                  <a:lnTo>
                    <a:pt x="6927977" y="3980434"/>
                  </a:lnTo>
                  <a:cubicBezTo>
                    <a:pt x="6927977" y="4107307"/>
                    <a:pt x="6825234" y="4210050"/>
                    <a:pt x="6698361" y="4210050"/>
                  </a:cubicBezTo>
                  <a:lnTo>
                    <a:pt x="229616" y="4210050"/>
                  </a:lnTo>
                  <a:cubicBezTo>
                    <a:pt x="102743" y="4210050"/>
                    <a:pt x="0" y="4107307"/>
                    <a:pt x="0" y="398043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85009" y="3831727"/>
            <a:ext cx="5195964" cy="3157538"/>
            <a:chOff x="0" y="0"/>
            <a:chExt cx="6927952" cy="4210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27977" cy="4210050"/>
            </a:xfrm>
            <a:custGeom>
              <a:avLst/>
              <a:gdLst/>
              <a:ahLst/>
              <a:cxnLst/>
              <a:rect r="r" b="b" t="t" l="l"/>
              <a:pathLst>
                <a:path h="4210050" w="6927977">
                  <a:moveTo>
                    <a:pt x="0" y="229616"/>
                  </a:moveTo>
                  <a:cubicBezTo>
                    <a:pt x="0" y="102743"/>
                    <a:pt x="102743" y="0"/>
                    <a:pt x="229616" y="0"/>
                  </a:cubicBezTo>
                  <a:lnTo>
                    <a:pt x="6698361" y="0"/>
                  </a:lnTo>
                  <a:cubicBezTo>
                    <a:pt x="6825234" y="0"/>
                    <a:pt x="6927977" y="102743"/>
                    <a:pt x="6927977" y="229616"/>
                  </a:cubicBezTo>
                  <a:lnTo>
                    <a:pt x="6927977" y="3980434"/>
                  </a:lnTo>
                  <a:cubicBezTo>
                    <a:pt x="6927977" y="4107307"/>
                    <a:pt x="6825234" y="4210050"/>
                    <a:pt x="6698361" y="4210050"/>
                  </a:cubicBezTo>
                  <a:lnTo>
                    <a:pt x="229616" y="4210050"/>
                  </a:lnTo>
                  <a:cubicBezTo>
                    <a:pt x="102743" y="4210050"/>
                    <a:pt x="0" y="4107307"/>
                    <a:pt x="0" y="398043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076499" y="5453358"/>
            <a:ext cx="857250" cy="57150"/>
            <a:chOff x="0" y="0"/>
            <a:chExt cx="11430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0" cy="76200"/>
            </a:xfrm>
            <a:custGeom>
              <a:avLst/>
              <a:gdLst/>
              <a:ahLst/>
              <a:cxnLst/>
              <a:rect r="r" b="b" t="t" l="l"/>
              <a:pathLst>
                <a:path h="76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15375" y="5453358"/>
            <a:ext cx="857250" cy="57150"/>
            <a:chOff x="0" y="0"/>
            <a:chExt cx="11430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00" cy="76200"/>
            </a:xfrm>
            <a:custGeom>
              <a:avLst/>
              <a:gdLst/>
              <a:ahLst/>
              <a:cxnLst/>
              <a:rect r="r" b="b" t="t" l="l"/>
              <a:pathLst>
                <a:path h="76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354251" y="5453358"/>
            <a:ext cx="857250" cy="57150"/>
            <a:chOff x="0" y="0"/>
            <a:chExt cx="11430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3000" cy="76200"/>
            </a:xfrm>
            <a:custGeom>
              <a:avLst/>
              <a:gdLst/>
              <a:ahLst/>
              <a:cxnLst/>
              <a:rect r="r" b="b" t="t" l="l"/>
              <a:pathLst>
                <a:path h="76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THREAT LANDSCAPE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Why AI Red Teaming Matters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Bottom line: Every exposed model is a target.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3468" y="4481808"/>
            <a:ext cx="364331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300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3,000+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7487" y="5786733"/>
            <a:ext cx="515550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AI incidents recorded in the AI Incident Database since 2019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25953" y="4481808"/>
            <a:ext cx="303609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300" b="true">
                <a:solidFill>
                  <a:srgbClr val="B4530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$4.4B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66364" y="5786733"/>
            <a:ext cx="515550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Cost of a single 2023 enterprise AI breach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68439" y="4481808"/>
            <a:ext cx="242887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300" b="true">
                <a:solidFill>
                  <a:srgbClr val="0284C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Days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05240" y="5786733"/>
            <a:ext cx="515550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Attack window for an unprotected inference endpoint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25274" y="2810170"/>
            <a:ext cx="9855470" cy="5929312"/>
            <a:chOff x="0" y="0"/>
            <a:chExt cx="13140626" cy="7905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40689" cy="7905750"/>
            </a:xfrm>
            <a:custGeom>
              <a:avLst/>
              <a:gdLst/>
              <a:ahLst/>
              <a:cxnLst/>
              <a:rect r="r" b="b" t="t" l="l"/>
              <a:pathLst>
                <a:path h="7905750" w="13140689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12911582" y="0"/>
                  </a:lnTo>
                  <a:cubicBezTo>
                    <a:pt x="13038074" y="0"/>
                    <a:pt x="13140689" y="102616"/>
                    <a:pt x="13140689" y="229108"/>
                  </a:cubicBezTo>
                  <a:lnTo>
                    <a:pt x="13140689" y="7676642"/>
                  </a:lnTo>
                  <a:cubicBezTo>
                    <a:pt x="13140689" y="7803135"/>
                    <a:pt x="13038074" y="7905750"/>
                    <a:pt x="12911582" y="7905750"/>
                  </a:cubicBezTo>
                  <a:lnTo>
                    <a:pt x="229108" y="7905750"/>
                  </a:lnTo>
                  <a:cubicBezTo>
                    <a:pt x="102616" y="7905750"/>
                    <a:pt x="0" y="7803134"/>
                    <a:pt x="0" y="767664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97876"/>
            <a:ext cx="4672012" cy="371475"/>
            <a:chOff x="0" y="0"/>
            <a:chExt cx="6229350" cy="49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9350" cy="495300"/>
            </a:xfrm>
            <a:custGeom>
              <a:avLst/>
              <a:gdLst/>
              <a:ahLst/>
              <a:cxnLst/>
              <a:rect r="r" b="b" t="t" l="l"/>
              <a:pathLst>
                <a:path h="495300" w="62293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153150" y="0"/>
                  </a:lnTo>
                  <a:cubicBezTo>
                    <a:pt x="6195187" y="0"/>
                    <a:pt x="6229350" y="34163"/>
                    <a:pt x="6229350" y="76200"/>
                  </a:cubicBezTo>
                  <a:lnTo>
                    <a:pt x="6229350" y="419100"/>
                  </a:lnTo>
                  <a:cubicBezTo>
                    <a:pt x="6229350" y="461137"/>
                    <a:pt x="6195187" y="495300"/>
                    <a:pt x="61531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3905" y="3481683"/>
            <a:ext cx="685800" cy="685800"/>
            <a:chOff x="0" y="0"/>
            <a:chExt cx="914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62000" y="0"/>
                  </a:lnTo>
                  <a:cubicBezTo>
                    <a:pt x="846201" y="0"/>
                    <a:pt x="914400" y="68199"/>
                    <a:pt x="914400" y="152400"/>
                  </a:cubicBezTo>
                  <a:lnTo>
                    <a:pt x="914400" y="762000"/>
                  </a:lnTo>
                  <a:cubicBezTo>
                    <a:pt x="914400" y="846201"/>
                    <a:pt x="846201" y="914400"/>
                    <a:pt x="762000" y="914400"/>
                  </a:cubicBezTo>
                  <a:lnTo>
                    <a:pt x="152400" y="914400"/>
                  </a:lnTo>
                  <a:cubicBezTo>
                    <a:pt x="68199" y="914400"/>
                    <a:pt x="0" y="846201"/>
                    <a:pt x="0" y="76200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11161" y="3281658"/>
            <a:ext cx="7998095" cy="1085850"/>
            <a:chOff x="0" y="0"/>
            <a:chExt cx="10664126" cy="144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4189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66418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509758" y="0"/>
                  </a:lnTo>
                  <a:cubicBezTo>
                    <a:pt x="10595101" y="0"/>
                    <a:pt x="10664189" y="69088"/>
                    <a:pt x="10664189" y="154432"/>
                  </a:cubicBezTo>
                  <a:lnTo>
                    <a:pt x="10664189" y="1293368"/>
                  </a:lnTo>
                  <a:cubicBezTo>
                    <a:pt x="10664189" y="1378712"/>
                    <a:pt x="10595101" y="1447800"/>
                    <a:pt x="10509758" y="1447800"/>
                  </a:cubicBezTo>
                  <a:lnTo>
                    <a:pt x="154432" y="1447800"/>
                  </a:lnTo>
                  <a:cubicBezTo>
                    <a:pt x="69088" y="1447800"/>
                    <a:pt x="0" y="1378712"/>
                    <a:pt x="0" y="129336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003905" y="5431927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62000" y="0"/>
                  </a:lnTo>
                  <a:cubicBezTo>
                    <a:pt x="846201" y="0"/>
                    <a:pt x="914400" y="68199"/>
                    <a:pt x="914400" y="152400"/>
                  </a:cubicBezTo>
                  <a:lnTo>
                    <a:pt x="914400" y="762000"/>
                  </a:lnTo>
                  <a:cubicBezTo>
                    <a:pt x="914400" y="846201"/>
                    <a:pt x="846201" y="914400"/>
                    <a:pt x="762000" y="914400"/>
                  </a:cubicBezTo>
                  <a:lnTo>
                    <a:pt x="152400" y="914400"/>
                  </a:lnTo>
                  <a:cubicBezTo>
                    <a:pt x="68199" y="914400"/>
                    <a:pt x="0" y="846201"/>
                    <a:pt x="0" y="762000"/>
                  </a:cubicBez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11161" y="5231902"/>
            <a:ext cx="7998095" cy="1085850"/>
            <a:chOff x="0" y="0"/>
            <a:chExt cx="10664126" cy="1447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4189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66418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509758" y="0"/>
                  </a:lnTo>
                  <a:cubicBezTo>
                    <a:pt x="10595101" y="0"/>
                    <a:pt x="10664189" y="69088"/>
                    <a:pt x="10664189" y="154432"/>
                  </a:cubicBezTo>
                  <a:lnTo>
                    <a:pt x="10664189" y="1293368"/>
                  </a:lnTo>
                  <a:cubicBezTo>
                    <a:pt x="10664189" y="1378712"/>
                    <a:pt x="10595101" y="1447800"/>
                    <a:pt x="10509758" y="1447800"/>
                  </a:cubicBezTo>
                  <a:lnTo>
                    <a:pt x="154432" y="1447800"/>
                  </a:lnTo>
                  <a:cubicBezTo>
                    <a:pt x="69088" y="1447800"/>
                    <a:pt x="0" y="1378712"/>
                    <a:pt x="0" y="129336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003905" y="738217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62000" y="0"/>
                  </a:lnTo>
                  <a:cubicBezTo>
                    <a:pt x="846201" y="0"/>
                    <a:pt x="914400" y="68199"/>
                    <a:pt x="914400" y="152400"/>
                  </a:cubicBezTo>
                  <a:lnTo>
                    <a:pt x="914400" y="762000"/>
                  </a:lnTo>
                  <a:cubicBezTo>
                    <a:pt x="914400" y="846201"/>
                    <a:pt x="846201" y="914400"/>
                    <a:pt x="762000" y="914400"/>
                  </a:cubicBezTo>
                  <a:lnTo>
                    <a:pt x="152400" y="914400"/>
                  </a:lnTo>
                  <a:cubicBezTo>
                    <a:pt x="68199" y="914400"/>
                    <a:pt x="0" y="846201"/>
                    <a:pt x="0" y="76200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11161" y="7182145"/>
            <a:ext cx="7998095" cy="1085850"/>
            <a:chOff x="0" y="0"/>
            <a:chExt cx="10664126" cy="144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64189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66418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509758" y="0"/>
                  </a:lnTo>
                  <a:cubicBezTo>
                    <a:pt x="10595101" y="0"/>
                    <a:pt x="10664189" y="69088"/>
                    <a:pt x="10664189" y="154432"/>
                  </a:cubicBezTo>
                  <a:lnTo>
                    <a:pt x="10664189" y="1293368"/>
                  </a:lnTo>
                  <a:cubicBezTo>
                    <a:pt x="10664189" y="1378712"/>
                    <a:pt x="10595101" y="1447800"/>
                    <a:pt x="10509758" y="1447800"/>
                  </a:cubicBezTo>
                  <a:lnTo>
                    <a:pt x="154432" y="1447800"/>
                  </a:lnTo>
                  <a:cubicBezTo>
                    <a:pt x="69088" y="1447800"/>
                    <a:pt x="0" y="1378712"/>
                    <a:pt x="0" y="129336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5734" y="4667545"/>
            <a:ext cx="214312" cy="285750"/>
            <a:chOff x="0" y="0"/>
            <a:chExt cx="28575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5" t="0" r="-79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45734" y="6617789"/>
            <a:ext cx="214312" cy="285750"/>
            <a:chOff x="0" y="0"/>
            <a:chExt cx="285750" cy="381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5" t="0" r="-79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DEFINITION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What is Red Teaming?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142212"/>
            <a:ext cx="6075093" cy="85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 structured adversarial exercise executed end-to-end.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7275" y="8045501"/>
            <a:ext cx="45291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Not a checklist audit. Not a compliance review.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273601"/>
            <a:ext cx="6075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Target Acquisition: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Build or acquire the victim AI service.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159426"/>
            <a:ext cx="6075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Real Tools: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Attack using identical adversary tooling.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45251"/>
            <a:ext cx="6075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Proof of Impact: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Document findings with concrete measurements.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931076"/>
            <a:ext cx="6075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Defensive Validation: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Propose and verify hardened controls.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789593" y="3481683"/>
            <a:ext cx="1114425" cy="685800"/>
            <a:chOff x="0" y="0"/>
            <a:chExt cx="14859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85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859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89593" y="5431927"/>
            <a:ext cx="1114425" cy="685800"/>
            <a:chOff x="0" y="0"/>
            <a:chExt cx="14859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85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4859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89593" y="7382170"/>
            <a:ext cx="1114425" cy="685800"/>
            <a:chOff x="0" y="0"/>
            <a:chExt cx="14859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85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4859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161193" y="3522164"/>
            <a:ext cx="912680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Target Setup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61193" y="3850777"/>
            <a:ext cx="91268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Deploy target containerized model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61193" y="5472408"/>
            <a:ext cx="912680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Adversarial Exploitation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61193" y="5801020"/>
            <a:ext cx="91268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Evasion, extraction, &amp; pipeline attacks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61193" y="7422652"/>
            <a:ext cx="912680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Remediation &amp; Verification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61193" y="7751264"/>
            <a:ext cx="91268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Hardened endpoint &amp; active rules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081883"/>
            <a:ext cx="8229600" cy="14288"/>
            <a:chOff x="0" y="0"/>
            <a:chExt cx="109728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5081883"/>
            <a:ext cx="8229600" cy="14288"/>
            <a:chOff x="0" y="0"/>
            <a:chExt cx="109728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767683"/>
            <a:ext cx="8229600" cy="14288"/>
            <a:chOff x="0" y="0"/>
            <a:chExt cx="109728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0" y="5767683"/>
            <a:ext cx="8229600" cy="14288"/>
            <a:chOff x="0" y="0"/>
            <a:chExt cx="10972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6453483"/>
            <a:ext cx="8229600" cy="14288"/>
            <a:chOff x="0" y="0"/>
            <a:chExt cx="109728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6453483"/>
            <a:ext cx="8229600" cy="14288"/>
            <a:chOff x="0" y="0"/>
            <a:chExt cx="109728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7139283"/>
            <a:ext cx="8229600" cy="14288"/>
            <a:chOff x="0" y="0"/>
            <a:chExt cx="10972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0" y="7139283"/>
            <a:ext cx="8229600" cy="14288"/>
            <a:chOff x="0" y="0"/>
            <a:chExt cx="109728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14400" y="3774577"/>
          <a:ext cx="16459200" cy="333375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TRADITIONAL SYSTEMS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AI SYSTEMS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Deterministic logic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(code executes defined rules)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Probabilistic outputs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(fuzzy decision surfaces)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Attack the code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(buffer overflows, injection)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Attack code and weights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(gradients, data)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Fixed input space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(structured parameters)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Continuous high-dimensional space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(vectors)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Exploits are visible bugs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(crashes, leaks)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Exploits look like normal inputs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(adversarial noise)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PARADIGM SHIFT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AI Red Teaming vs Traditional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Bottom line: Code does what it says. Weights do what they learned — and those are not the same thing.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438945"/>
            <a:ext cx="5520776" cy="914400"/>
            <a:chOff x="0" y="0"/>
            <a:chExt cx="7361034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61047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610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208647" y="0"/>
                  </a:lnTo>
                  <a:cubicBezTo>
                    <a:pt x="7292848" y="0"/>
                    <a:pt x="7361047" y="68199"/>
                    <a:pt x="7361047" y="152400"/>
                  </a:cubicBezTo>
                  <a:lnTo>
                    <a:pt x="7361047" y="1066800"/>
                  </a:lnTo>
                  <a:cubicBezTo>
                    <a:pt x="7361047" y="1151001"/>
                    <a:pt x="7292848" y="1219200"/>
                    <a:pt x="7208647" y="1219200"/>
                  </a:cubicBezTo>
                  <a:lnTo>
                    <a:pt x="152400" y="1219200"/>
                  </a:lnTo>
                  <a:cubicBezTo>
                    <a:pt x="68199" y="1219200"/>
                    <a:pt x="0" y="1151001"/>
                    <a:pt x="0" y="10668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639095"/>
            <a:ext cx="5520776" cy="914400"/>
            <a:chOff x="0" y="0"/>
            <a:chExt cx="7361034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61047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610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208647" y="0"/>
                  </a:lnTo>
                  <a:cubicBezTo>
                    <a:pt x="7292848" y="0"/>
                    <a:pt x="7361047" y="68199"/>
                    <a:pt x="7361047" y="152400"/>
                  </a:cubicBezTo>
                  <a:lnTo>
                    <a:pt x="7361047" y="1066800"/>
                  </a:lnTo>
                  <a:cubicBezTo>
                    <a:pt x="7361047" y="1151001"/>
                    <a:pt x="7292848" y="1219200"/>
                    <a:pt x="7208647" y="1219200"/>
                  </a:cubicBezTo>
                  <a:lnTo>
                    <a:pt x="152400" y="1219200"/>
                  </a:lnTo>
                  <a:cubicBezTo>
                    <a:pt x="68199" y="1219200"/>
                    <a:pt x="0" y="1151001"/>
                    <a:pt x="0" y="10668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839245"/>
            <a:ext cx="5520776" cy="914400"/>
            <a:chOff x="0" y="0"/>
            <a:chExt cx="7361034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1047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610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208647" y="0"/>
                  </a:lnTo>
                  <a:cubicBezTo>
                    <a:pt x="7292848" y="0"/>
                    <a:pt x="7361047" y="68199"/>
                    <a:pt x="7361047" y="152400"/>
                  </a:cubicBezTo>
                  <a:lnTo>
                    <a:pt x="7361047" y="1066800"/>
                  </a:lnTo>
                  <a:cubicBezTo>
                    <a:pt x="7361047" y="1151001"/>
                    <a:pt x="7292848" y="1219200"/>
                    <a:pt x="7208647" y="1219200"/>
                  </a:cubicBezTo>
                  <a:lnTo>
                    <a:pt x="152400" y="1219200"/>
                  </a:lnTo>
                  <a:cubicBezTo>
                    <a:pt x="68199" y="1219200"/>
                    <a:pt x="0" y="1151001"/>
                    <a:pt x="0" y="10668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4438945"/>
            <a:ext cx="57150" cy="914400"/>
            <a:chOff x="0" y="0"/>
            <a:chExt cx="76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639095"/>
            <a:ext cx="57150" cy="914400"/>
            <a:chOff x="0" y="0"/>
            <a:chExt cx="762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6839245"/>
            <a:ext cx="57150" cy="914400"/>
            <a:chOff x="0" y="0"/>
            <a:chExt cx="762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06688" y="4396083"/>
            <a:ext cx="2941215" cy="2114550"/>
            <a:chOff x="0" y="0"/>
            <a:chExt cx="3921620" cy="2819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21760" cy="2819400"/>
            </a:xfrm>
            <a:custGeom>
              <a:avLst/>
              <a:gdLst/>
              <a:ahLst/>
              <a:cxnLst/>
              <a:rect r="r" b="b" t="t" l="l"/>
              <a:pathLst>
                <a:path h="2819400" w="3921760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3689985" y="0"/>
                  </a:lnTo>
                  <a:cubicBezTo>
                    <a:pt x="3818001" y="0"/>
                    <a:pt x="3921760" y="103759"/>
                    <a:pt x="3921760" y="231775"/>
                  </a:cubicBezTo>
                  <a:lnTo>
                    <a:pt x="3921760" y="2587625"/>
                  </a:lnTo>
                  <a:cubicBezTo>
                    <a:pt x="3921760" y="2715641"/>
                    <a:pt x="3818001" y="2819400"/>
                    <a:pt x="3689985" y="2819400"/>
                  </a:cubicBezTo>
                  <a:lnTo>
                    <a:pt x="231775" y="2819400"/>
                  </a:lnTo>
                  <a:cubicBezTo>
                    <a:pt x="103759" y="2819400"/>
                    <a:pt x="0" y="2715641"/>
                    <a:pt x="0" y="2587625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776566" y="4396083"/>
            <a:ext cx="2941215" cy="2114550"/>
            <a:chOff x="0" y="0"/>
            <a:chExt cx="3921620" cy="2819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21760" cy="2819400"/>
            </a:xfrm>
            <a:custGeom>
              <a:avLst/>
              <a:gdLst/>
              <a:ahLst/>
              <a:cxnLst/>
              <a:rect r="r" b="b" t="t" l="l"/>
              <a:pathLst>
                <a:path h="2819400" w="3921760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3689985" y="0"/>
                  </a:lnTo>
                  <a:cubicBezTo>
                    <a:pt x="3818001" y="0"/>
                    <a:pt x="3921760" y="103759"/>
                    <a:pt x="3921760" y="231775"/>
                  </a:cubicBezTo>
                  <a:lnTo>
                    <a:pt x="3921760" y="2587625"/>
                  </a:lnTo>
                  <a:cubicBezTo>
                    <a:pt x="3921760" y="2715641"/>
                    <a:pt x="3818001" y="2819400"/>
                    <a:pt x="3689985" y="2819400"/>
                  </a:cubicBezTo>
                  <a:lnTo>
                    <a:pt x="231775" y="2819400"/>
                  </a:lnTo>
                  <a:cubicBezTo>
                    <a:pt x="103759" y="2819400"/>
                    <a:pt x="0" y="2715641"/>
                    <a:pt x="0" y="2587625"/>
                  </a:cubicBezTo>
                  <a:close/>
                </a:path>
              </a:pathLst>
            </a:custGeom>
            <a:solidFill>
              <a:srgbClr val="FEF3C7"/>
            </a:solidFill>
            <a:ln w="28575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446444" y="4246064"/>
            <a:ext cx="2941215" cy="2414588"/>
            <a:chOff x="0" y="0"/>
            <a:chExt cx="3921620" cy="3219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21633" cy="3219450"/>
            </a:xfrm>
            <a:custGeom>
              <a:avLst/>
              <a:gdLst/>
              <a:ahLst/>
              <a:cxnLst/>
              <a:rect r="r" b="b" t="t" l="l"/>
              <a:pathLst>
                <a:path h="3219450" w="3921633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3690366" y="0"/>
                  </a:lnTo>
                  <a:cubicBezTo>
                    <a:pt x="3818128" y="0"/>
                    <a:pt x="3921633" y="103505"/>
                    <a:pt x="3921633" y="231267"/>
                  </a:cubicBezTo>
                  <a:lnTo>
                    <a:pt x="3921633" y="2988183"/>
                  </a:lnTo>
                  <a:cubicBezTo>
                    <a:pt x="3921633" y="3115945"/>
                    <a:pt x="3818128" y="3219450"/>
                    <a:pt x="3690366" y="3219450"/>
                  </a:cubicBezTo>
                  <a:lnTo>
                    <a:pt x="231267" y="3219450"/>
                  </a:lnTo>
                  <a:cubicBezTo>
                    <a:pt x="103505" y="3219450"/>
                    <a:pt x="0" y="3115945"/>
                    <a:pt x="0" y="2988183"/>
                  </a:cubicBezTo>
                  <a:close/>
                </a:path>
              </a:pathLst>
            </a:custGeom>
            <a:solidFill>
              <a:srgbClr val="E0F2FE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62216" y="5281908"/>
            <a:ext cx="300038" cy="342900"/>
            <a:chOff x="0" y="0"/>
            <a:chExt cx="400050" cy="457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5" t="0" r="-285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932094" y="5281908"/>
            <a:ext cx="300038" cy="342900"/>
            <a:chOff x="0" y="0"/>
            <a:chExt cx="400050" cy="4572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5" t="0" r="-285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METHODOLOGY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Attacker's Mindset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3776958"/>
            <a:ext cx="6900977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Threat modelling in three questions: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5530" y="6970214"/>
            <a:ext cx="1098351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"If you can't answer all three, you don't have a threat model — you have a wish list."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7300" y="4715170"/>
            <a:ext cx="611516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1. What are we protecting?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→ Assets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7300" y="5915320"/>
            <a:ext cx="611516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2. Who wants it?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→ Adversaries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7300" y="7115470"/>
            <a:ext cx="611516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3. What stops them?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→ Controls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21245" y="4762795"/>
            <a:ext cx="271211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ASSETS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21245" y="5205708"/>
            <a:ext cx="271211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Weights, training data membership, inference endpoint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1123" y="4762795"/>
            <a:ext cx="271211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ADVERSARIES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91123" y="5205708"/>
            <a:ext cx="271211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78350F"/>
                </a:solidFill>
                <a:latin typeface="Arimo"/>
                <a:ea typeface="Arimo"/>
                <a:cs typeface="Arimo"/>
                <a:sym typeface="Arimo"/>
              </a:rPr>
              <a:t>Network client with API access, no host access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61001" y="4612777"/>
            <a:ext cx="271211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75985"/>
                </a:solidFill>
                <a:latin typeface="Arimo Bold"/>
                <a:ea typeface="Arimo Bold"/>
                <a:cs typeface="Arimo Bold"/>
                <a:sym typeface="Arimo Bold"/>
              </a:rPr>
              <a:t>CONTROLS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61001" y="5055689"/>
            <a:ext cx="271211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C4A6E"/>
                </a:solidFill>
                <a:latin typeface="Arimo"/>
                <a:ea typeface="Arimo"/>
                <a:cs typeface="Arimo"/>
                <a:sym typeface="Arimo"/>
              </a:rPr>
              <a:t>Rate limits, validators, detector, robust model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3517402"/>
            <a:ext cx="5272088" cy="3786188"/>
            <a:chOff x="0" y="0"/>
            <a:chExt cx="7029450" cy="5048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5048250"/>
            </a:xfrm>
            <a:custGeom>
              <a:avLst/>
              <a:gdLst/>
              <a:ahLst/>
              <a:cxnLst/>
              <a:rect r="r" b="b" t="t" l="l"/>
              <a:pathLst>
                <a:path h="5048250" w="702945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6799961" y="0"/>
                  </a:lnTo>
                  <a:cubicBezTo>
                    <a:pt x="6926707" y="0"/>
                    <a:pt x="7029450" y="102743"/>
                    <a:pt x="7029450" y="229489"/>
                  </a:cubicBezTo>
                  <a:lnTo>
                    <a:pt x="7029450" y="4818761"/>
                  </a:lnTo>
                  <a:cubicBezTo>
                    <a:pt x="7029450" y="4945507"/>
                    <a:pt x="6926707" y="5048250"/>
                    <a:pt x="6799961" y="5048250"/>
                  </a:cubicBezTo>
                  <a:lnTo>
                    <a:pt x="229489" y="5048250"/>
                  </a:lnTo>
                  <a:cubicBezTo>
                    <a:pt x="102743" y="5048250"/>
                    <a:pt x="0" y="4945507"/>
                    <a:pt x="0" y="481876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507956" y="3517402"/>
            <a:ext cx="5272088" cy="3786188"/>
            <a:chOff x="0" y="0"/>
            <a:chExt cx="7029450" cy="5048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450" cy="5048250"/>
            </a:xfrm>
            <a:custGeom>
              <a:avLst/>
              <a:gdLst/>
              <a:ahLst/>
              <a:cxnLst/>
              <a:rect r="r" b="b" t="t" l="l"/>
              <a:pathLst>
                <a:path h="5048250" w="702945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6799961" y="0"/>
                  </a:lnTo>
                  <a:cubicBezTo>
                    <a:pt x="6926707" y="0"/>
                    <a:pt x="7029450" y="102743"/>
                    <a:pt x="7029450" y="229489"/>
                  </a:cubicBezTo>
                  <a:lnTo>
                    <a:pt x="7029450" y="4818761"/>
                  </a:lnTo>
                  <a:cubicBezTo>
                    <a:pt x="7029450" y="4945507"/>
                    <a:pt x="6926707" y="5048250"/>
                    <a:pt x="6799961" y="5048250"/>
                  </a:cubicBezTo>
                  <a:lnTo>
                    <a:pt x="229489" y="5048250"/>
                  </a:lnTo>
                  <a:cubicBezTo>
                    <a:pt x="102743" y="5048250"/>
                    <a:pt x="0" y="4945507"/>
                    <a:pt x="0" y="481876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08656" y="3681708"/>
            <a:ext cx="5272088" cy="3457575"/>
            <a:chOff x="0" y="0"/>
            <a:chExt cx="7029450" cy="4610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2945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02945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6799961" y="0"/>
                  </a:lnTo>
                  <a:cubicBezTo>
                    <a:pt x="6926707" y="0"/>
                    <a:pt x="7029450" y="102743"/>
                    <a:pt x="7029450" y="229489"/>
                  </a:cubicBezTo>
                  <a:lnTo>
                    <a:pt x="7029450" y="4380611"/>
                  </a:lnTo>
                  <a:cubicBezTo>
                    <a:pt x="7029450" y="4507357"/>
                    <a:pt x="6926707" y="4610100"/>
                    <a:pt x="6799961" y="4610100"/>
                  </a:cubicBezTo>
                  <a:lnTo>
                    <a:pt x="229489" y="4610100"/>
                  </a:lnTo>
                  <a:cubicBezTo>
                    <a:pt x="102743" y="4610100"/>
                    <a:pt x="0" y="4507357"/>
                    <a:pt x="0" y="438061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85888" y="3996033"/>
            <a:ext cx="2286000" cy="300038"/>
            <a:chOff x="0" y="0"/>
            <a:chExt cx="3048000" cy="400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85888" y="6339183"/>
            <a:ext cx="4314825" cy="485775"/>
            <a:chOff x="0" y="0"/>
            <a:chExt cx="5753100" cy="647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53100" cy="647700"/>
            </a:xfrm>
            <a:custGeom>
              <a:avLst/>
              <a:gdLst/>
              <a:ahLst/>
              <a:cxnLst/>
              <a:rect r="r" b="b" t="t" l="l"/>
              <a:pathLst>
                <a:path h="647700" w="57531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638800" y="0"/>
                  </a:lnTo>
                  <a:cubicBezTo>
                    <a:pt x="5701919" y="0"/>
                    <a:pt x="5753100" y="51181"/>
                    <a:pt x="5753100" y="114300"/>
                  </a:cubicBezTo>
                  <a:lnTo>
                    <a:pt x="5753100" y="533400"/>
                  </a:lnTo>
                  <a:cubicBezTo>
                    <a:pt x="5753100" y="596519"/>
                    <a:pt x="5701919" y="647700"/>
                    <a:pt x="5638800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86588" y="3996033"/>
            <a:ext cx="2143125" cy="300038"/>
            <a:chOff x="0" y="0"/>
            <a:chExt cx="2857500" cy="400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7500" cy="400050"/>
            </a:xfrm>
            <a:custGeom>
              <a:avLst/>
              <a:gdLst/>
              <a:ahLst/>
              <a:cxnLst/>
              <a:rect r="r" b="b" t="t" l="l"/>
              <a:pathLst>
                <a:path h="40005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6588" y="6339183"/>
            <a:ext cx="4314825" cy="485775"/>
            <a:chOff x="0" y="0"/>
            <a:chExt cx="5753100" cy="647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3100" cy="647700"/>
            </a:xfrm>
            <a:custGeom>
              <a:avLst/>
              <a:gdLst/>
              <a:ahLst/>
              <a:cxnLst/>
              <a:rect r="r" b="b" t="t" l="l"/>
              <a:pathLst>
                <a:path h="647700" w="57531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638800" y="0"/>
                  </a:lnTo>
                  <a:cubicBezTo>
                    <a:pt x="5701919" y="0"/>
                    <a:pt x="5753100" y="51181"/>
                    <a:pt x="5753100" y="114300"/>
                  </a:cubicBezTo>
                  <a:lnTo>
                    <a:pt x="5753100" y="533400"/>
                  </a:lnTo>
                  <a:cubicBezTo>
                    <a:pt x="5753100" y="596519"/>
                    <a:pt x="5701919" y="647700"/>
                    <a:pt x="5638800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587288" y="4160339"/>
            <a:ext cx="2428875" cy="300038"/>
            <a:chOff x="0" y="0"/>
            <a:chExt cx="3238500" cy="400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38500" cy="400050"/>
            </a:xfrm>
            <a:custGeom>
              <a:avLst/>
              <a:gdLst/>
              <a:ahLst/>
              <a:cxnLst/>
              <a:rect r="r" b="b" t="t" l="l"/>
              <a:pathLst>
                <a:path h="400050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CFF4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87288" y="6174877"/>
            <a:ext cx="4314825" cy="485775"/>
            <a:chOff x="0" y="0"/>
            <a:chExt cx="5753100" cy="647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3100" cy="647700"/>
            </a:xfrm>
            <a:custGeom>
              <a:avLst/>
              <a:gdLst/>
              <a:ahLst/>
              <a:cxnLst/>
              <a:rect r="r" b="b" t="t" l="l"/>
              <a:pathLst>
                <a:path h="647700" w="57531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638800" y="0"/>
                  </a:lnTo>
                  <a:cubicBezTo>
                    <a:pt x="5701919" y="0"/>
                    <a:pt x="5753100" y="51181"/>
                    <a:pt x="5753100" y="114300"/>
                  </a:cubicBezTo>
                  <a:lnTo>
                    <a:pt x="5753100" y="533400"/>
                  </a:lnTo>
                  <a:cubicBezTo>
                    <a:pt x="5753100" y="596519"/>
                    <a:pt x="5701919" y="647700"/>
                    <a:pt x="5638800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CFF4F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STANDARDS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Industry Security Frameworks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ATLAS tells you what the attack is. RMF tells you what to do about it. OWASP tells you how the API is exposed.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5888" y="3996033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ATTACK CATALOGUE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5888" y="4505620"/>
            <a:ext cx="56632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MITRE ATLAS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5888" y="5115220"/>
            <a:ext cx="4457700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Adversarial Threat Landscape for AI. Every attack tagged with technique IDs.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00188" y="6453483"/>
            <a:ext cx="42291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AML.T0043 · AML.T0024 · AML.T0025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86588" y="3996033"/>
            <a:ext cx="2678906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MANAGEMENT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86588" y="4505620"/>
            <a:ext cx="56632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NIST AI RMF 1.0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86588" y="5115220"/>
            <a:ext cx="4457700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Risk Management Framework. Every defense maps to a specific core function.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00888" y="6453483"/>
            <a:ext cx="42291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GOVERN · MAP · MEASURE · MANAGE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87288" y="4160339"/>
            <a:ext cx="3036094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551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WEB / API SURFACE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87288" y="4669927"/>
            <a:ext cx="56632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OWASP API Top 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87288" y="5279527"/>
            <a:ext cx="44577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Web vulnerability classes for exposed REST endpoints.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01588" y="6289177"/>
            <a:ext cx="42291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551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API4 (Rate Limit) · API6 · API9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50869" y="3324520"/>
            <a:ext cx="4386262" cy="857250"/>
            <a:chOff x="0" y="0"/>
            <a:chExt cx="584835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483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848350">
                  <a:moveTo>
                    <a:pt x="0" y="571500"/>
                  </a:moveTo>
                  <a:cubicBezTo>
                    <a:pt x="0" y="255905"/>
                    <a:pt x="255905" y="0"/>
                    <a:pt x="571500" y="0"/>
                  </a:cubicBezTo>
                  <a:lnTo>
                    <a:pt x="5276850" y="0"/>
                  </a:lnTo>
                  <a:cubicBezTo>
                    <a:pt x="5592445" y="0"/>
                    <a:pt x="5848350" y="255905"/>
                    <a:pt x="5848350" y="571500"/>
                  </a:cubicBezTo>
                  <a:cubicBezTo>
                    <a:pt x="5848350" y="887095"/>
                    <a:pt x="5592445" y="1143000"/>
                    <a:pt x="5276850" y="1143000"/>
                  </a:cubicBezTo>
                  <a:lnTo>
                    <a:pt x="571500" y="1143000"/>
                  </a:lnTo>
                  <a:cubicBezTo>
                    <a:pt x="255905" y="1143000"/>
                    <a:pt x="0" y="887095"/>
                    <a:pt x="0" y="5715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06326" y="4481808"/>
            <a:ext cx="28575" cy="342900"/>
            <a:chOff x="0" y="0"/>
            <a:chExt cx="381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457200"/>
            </a:xfrm>
            <a:custGeom>
              <a:avLst/>
              <a:gdLst/>
              <a:ahLst/>
              <a:cxnLst/>
              <a:rect r="r" b="b" t="t" l="l"/>
              <a:pathLst>
                <a:path h="457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53099" y="4481808"/>
            <a:ext cx="28575" cy="342900"/>
            <a:chOff x="0" y="0"/>
            <a:chExt cx="381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" cy="457200"/>
            </a:xfrm>
            <a:custGeom>
              <a:avLst/>
              <a:gdLst/>
              <a:ahLst/>
              <a:cxnLst/>
              <a:rect r="r" b="b" t="t" l="l"/>
              <a:pathLst>
                <a:path h="457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0112" y="5110458"/>
            <a:ext cx="7915275" cy="2400300"/>
            <a:chOff x="0" y="0"/>
            <a:chExt cx="10553700" cy="320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537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553700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10322433" y="0"/>
                  </a:lnTo>
                  <a:cubicBezTo>
                    <a:pt x="10450195" y="0"/>
                    <a:pt x="10553700" y="103505"/>
                    <a:pt x="10553700" y="231267"/>
                  </a:cubicBezTo>
                  <a:lnTo>
                    <a:pt x="10553700" y="2969133"/>
                  </a:lnTo>
                  <a:cubicBezTo>
                    <a:pt x="10553700" y="3096895"/>
                    <a:pt x="10450195" y="3200400"/>
                    <a:pt x="10322433" y="3200400"/>
                  </a:cubicBezTo>
                  <a:lnTo>
                    <a:pt x="231267" y="3200400"/>
                  </a:lnTo>
                  <a:cubicBezTo>
                    <a:pt x="103505" y="3200400"/>
                    <a:pt x="0" y="3096895"/>
                    <a:pt x="0" y="2969133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472612" y="5110458"/>
            <a:ext cx="7915275" cy="2400300"/>
            <a:chOff x="0" y="0"/>
            <a:chExt cx="10553700" cy="320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537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553700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10322433" y="0"/>
                  </a:lnTo>
                  <a:cubicBezTo>
                    <a:pt x="10450195" y="0"/>
                    <a:pt x="10553700" y="103505"/>
                    <a:pt x="10553700" y="231267"/>
                  </a:cubicBezTo>
                  <a:lnTo>
                    <a:pt x="10553700" y="2969133"/>
                  </a:lnTo>
                  <a:cubicBezTo>
                    <a:pt x="10553700" y="3096895"/>
                    <a:pt x="10450195" y="3200400"/>
                    <a:pt x="10322433" y="3200400"/>
                  </a:cubicBezTo>
                  <a:lnTo>
                    <a:pt x="231267" y="3200400"/>
                  </a:lnTo>
                  <a:cubicBezTo>
                    <a:pt x="103505" y="3200400"/>
                    <a:pt x="0" y="3096895"/>
                    <a:pt x="0" y="2969133"/>
                  </a:cubicBezTo>
                  <a:close/>
                </a:path>
              </a:pathLst>
            </a:custGeom>
            <a:solidFill>
              <a:srgbClr val="FEF3C7"/>
            </a:solidFill>
            <a:ln w="28575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206326" y="4638970"/>
            <a:ext cx="9875339" cy="28575"/>
            <a:chOff x="0" y="0"/>
            <a:chExt cx="13167119" cy="381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3167106" cy="38100"/>
            </a:xfrm>
            <a:custGeom>
              <a:avLst/>
              <a:gdLst/>
              <a:ahLst/>
              <a:cxnLst/>
              <a:rect r="r" b="b" t="t" l="l"/>
              <a:pathLst>
                <a:path h="38100" w="13167106">
                  <a:moveTo>
                    <a:pt x="0" y="0"/>
                  </a:moveTo>
                  <a:lnTo>
                    <a:pt x="13167106" y="0"/>
                  </a:lnTo>
                  <a:lnTo>
                    <a:pt x="13167106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900" r="0" b="-2493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TAXONOMY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 Taxonomy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Two different attackers, two different skill sets, two different defense strategies.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65219" y="3543595"/>
            <a:ext cx="350043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Attacks on AI Systems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3025" y="5553370"/>
            <a:ext cx="878681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MODEL-LEVEL ATTACKS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3025" y="5958183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Target: Model weights &amp; decisions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3025" y="6448720"/>
            <a:ext cx="71723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Evasion · Model Extraction · Membership Inference · Poisoning · Backdoor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15525" y="5553370"/>
            <a:ext cx="8372475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B4530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SYSTEM-LEVEL ATTACKS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15525" y="5958183"/>
            <a:ext cx="83724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Target: Pipeline &amp; container infrastructure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15525" y="6448720"/>
            <a:ext cx="71723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Metadata leaks · Container misconfig · Credential exposure · CORS · Docs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3724" y="2845889"/>
            <a:ext cx="9749876" cy="5857875"/>
            <a:chOff x="0" y="0"/>
            <a:chExt cx="12999834" cy="7810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2999847" cy="7810500"/>
            </a:xfrm>
            <a:custGeom>
              <a:avLst/>
              <a:gdLst/>
              <a:ahLst/>
              <a:cxnLst/>
              <a:rect r="r" b="b" t="t" l="l"/>
              <a:pathLst>
                <a:path h="7810500" w="12999847">
                  <a:moveTo>
                    <a:pt x="0" y="0"/>
                  </a:moveTo>
                  <a:lnTo>
                    <a:pt x="12999847" y="0"/>
                  </a:lnTo>
                  <a:lnTo>
                    <a:pt x="12999847" y="7810500"/>
                  </a:lnTo>
                  <a:lnTo>
                    <a:pt x="0" y="781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8" r="0" b="-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80912" y="3203077"/>
            <a:ext cx="9035501" cy="5143500"/>
            <a:chOff x="0" y="0"/>
            <a:chExt cx="12047334" cy="6858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2047347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047347">
                  <a:moveTo>
                    <a:pt x="0" y="0"/>
                  </a:moveTo>
                  <a:lnTo>
                    <a:pt x="12047347" y="0"/>
                  </a:lnTo>
                  <a:lnTo>
                    <a:pt x="120473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" r="0" b="-1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MODEL SURFACE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Model-Level Attacks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3926977"/>
            <a:ext cx="616639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Model-level attacks target three properties: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6984502"/>
            <a:ext cx="616639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Each attack exploits a fundamental mathematical property of trained neural networks.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936627"/>
            <a:ext cx="752939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1. DECISIONS: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Make it wrong (Evasion)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493839"/>
            <a:ext cx="616639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2. KNOWLEDGE: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Steal the architecture (Extraction)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6151064"/>
            <a:ext cx="752939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3. MEMORIES: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Leak training samples (MIA)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0" y="3681708"/>
            <a:ext cx="9829800" cy="4186238"/>
            <a:chOff x="0" y="0"/>
            <a:chExt cx="13106400" cy="5581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06400" cy="5581650"/>
            </a:xfrm>
            <a:custGeom>
              <a:avLst/>
              <a:gdLst/>
              <a:ahLst/>
              <a:cxnLst/>
              <a:rect r="r" b="b" t="t" l="l"/>
              <a:pathLst>
                <a:path h="5581650" w="13106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877800" y="0"/>
                  </a:lnTo>
                  <a:cubicBezTo>
                    <a:pt x="13004038" y="0"/>
                    <a:pt x="13106400" y="102362"/>
                    <a:pt x="13106400" y="228600"/>
                  </a:cubicBezTo>
                  <a:lnTo>
                    <a:pt x="13106400" y="5353050"/>
                  </a:lnTo>
                  <a:cubicBezTo>
                    <a:pt x="13106400" y="5479288"/>
                    <a:pt x="13004038" y="5581650"/>
                    <a:pt x="12877800" y="5581650"/>
                  </a:cubicBezTo>
                  <a:lnTo>
                    <a:pt x="228600" y="5581650"/>
                  </a:lnTo>
                  <a:cubicBezTo>
                    <a:pt x="102362" y="5581650"/>
                    <a:pt x="0" y="5479288"/>
                    <a:pt x="0" y="53530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317502"/>
            <a:ext cx="5943600" cy="942975"/>
            <a:chOff x="0" y="0"/>
            <a:chExt cx="7924800" cy="1257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248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92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72400" y="0"/>
                  </a:lnTo>
                  <a:cubicBezTo>
                    <a:pt x="7856601" y="0"/>
                    <a:pt x="7924800" y="68199"/>
                    <a:pt x="7924800" y="152400"/>
                  </a:cubicBezTo>
                  <a:lnTo>
                    <a:pt x="7924800" y="1104900"/>
                  </a:lnTo>
                  <a:cubicBezTo>
                    <a:pt x="7924800" y="1189101"/>
                    <a:pt x="7856601" y="1257300"/>
                    <a:pt x="7772400" y="1257300"/>
                  </a:cubicBezTo>
                  <a:lnTo>
                    <a:pt x="152400" y="1257300"/>
                  </a:lnTo>
                  <a:cubicBezTo>
                    <a:pt x="68199" y="1257300"/>
                    <a:pt x="0" y="1189101"/>
                    <a:pt x="0" y="11049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317502"/>
            <a:ext cx="57150" cy="942975"/>
            <a:chOff x="0" y="0"/>
            <a:chExt cx="76200" cy="1257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57300"/>
                  </a:lnTo>
                  <a:lnTo>
                    <a:pt x="0" y="12573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489077"/>
            <a:ext cx="5943600" cy="642938"/>
            <a:chOff x="0" y="0"/>
            <a:chExt cx="7924800" cy="857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24800" cy="857250"/>
            </a:xfrm>
            <a:custGeom>
              <a:avLst/>
              <a:gdLst/>
              <a:ahLst/>
              <a:cxnLst/>
              <a:rect r="r" b="b" t="t" l="l"/>
              <a:pathLst>
                <a:path h="857250" w="792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72400" y="0"/>
                  </a:lnTo>
                  <a:cubicBezTo>
                    <a:pt x="7856601" y="0"/>
                    <a:pt x="7924800" y="68199"/>
                    <a:pt x="7924800" y="152400"/>
                  </a:cubicBezTo>
                  <a:lnTo>
                    <a:pt x="7924800" y="704850"/>
                  </a:lnTo>
                  <a:cubicBezTo>
                    <a:pt x="7924800" y="789051"/>
                    <a:pt x="7856601" y="857250"/>
                    <a:pt x="7772400" y="857250"/>
                  </a:cubicBezTo>
                  <a:lnTo>
                    <a:pt x="152400" y="857250"/>
                  </a:lnTo>
                  <a:cubicBezTo>
                    <a:pt x="68199" y="857250"/>
                    <a:pt x="0" y="789051"/>
                    <a:pt x="0" y="7048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489077"/>
            <a:ext cx="57150" cy="642938"/>
            <a:chOff x="0" y="0"/>
            <a:chExt cx="76200" cy="857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857250"/>
            </a:xfrm>
            <a:custGeom>
              <a:avLst/>
              <a:gdLst/>
              <a:ahLst/>
              <a:cxnLst/>
              <a:rect r="r" b="b" t="t" l="l"/>
              <a:pathLst>
                <a:path h="857250" w="76200">
                  <a:moveTo>
                    <a:pt x="0" y="0"/>
                  </a:moveTo>
                  <a:lnTo>
                    <a:pt x="76200" y="0"/>
                  </a:lnTo>
                  <a:lnTo>
                    <a:pt x="762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6360614"/>
            <a:ext cx="5943600" cy="642938"/>
            <a:chOff x="0" y="0"/>
            <a:chExt cx="7924800" cy="85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24800" cy="857250"/>
            </a:xfrm>
            <a:custGeom>
              <a:avLst/>
              <a:gdLst/>
              <a:ahLst/>
              <a:cxnLst/>
              <a:rect r="r" b="b" t="t" l="l"/>
              <a:pathLst>
                <a:path h="857250" w="792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72400" y="0"/>
                  </a:lnTo>
                  <a:cubicBezTo>
                    <a:pt x="7856601" y="0"/>
                    <a:pt x="7924800" y="68199"/>
                    <a:pt x="7924800" y="152400"/>
                  </a:cubicBezTo>
                  <a:lnTo>
                    <a:pt x="7924800" y="704850"/>
                  </a:lnTo>
                  <a:cubicBezTo>
                    <a:pt x="7924800" y="789051"/>
                    <a:pt x="7856601" y="857250"/>
                    <a:pt x="7772400" y="857250"/>
                  </a:cubicBezTo>
                  <a:lnTo>
                    <a:pt x="152400" y="857250"/>
                  </a:lnTo>
                  <a:cubicBezTo>
                    <a:pt x="68199" y="857250"/>
                    <a:pt x="0" y="789051"/>
                    <a:pt x="0" y="7048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6360614"/>
            <a:ext cx="57150" cy="642938"/>
            <a:chOff x="0" y="0"/>
            <a:chExt cx="76200" cy="857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857250"/>
            </a:xfrm>
            <a:custGeom>
              <a:avLst/>
              <a:gdLst/>
              <a:ahLst/>
              <a:cxnLst/>
              <a:rect r="r" b="b" t="t" l="l"/>
              <a:pathLst>
                <a:path h="857250" w="76200">
                  <a:moveTo>
                    <a:pt x="0" y="0"/>
                  </a:moveTo>
                  <a:lnTo>
                    <a:pt x="76200" y="0"/>
                  </a:lnTo>
                  <a:lnTo>
                    <a:pt x="762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7232152"/>
            <a:ext cx="5943600" cy="942975"/>
            <a:chOff x="0" y="0"/>
            <a:chExt cx="79248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92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72400" y="0"/>
                  </a:lnTo>
                  <a:cubicBezTo>
                    <a:pt x="7856601" y="0"/>
                    <a:pt x="7924800" y="68199"/>
                    <a:pt x="7924800" y="152400"/>
                  </a:cubicBezTo>
                  <a:lnTo>
                    <a:pt x="7924800" y="1104900"/>
                  </a:lnTo>
                  <a:cubicBezTo>
                    <a:pt x="7924800" y="1189101"/>
                    <a:pt x="7856601" y="1257300"/>
                    <a:pt x="7772400" y="1257300"/>
                  </a:cubicBezTo>
                  <a:lnTo>
                    <a:pt x="152400" y="1257300"/>
                  </a:lnTo>
                  <a:cubicBezTo>
                    <a:pt x="68199" y="1257300"/>
                    <a:pt x="0" y="1189101"/>
                    <a:pt x="0" y="11049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7232152"/>
            <a:ext cx="57150" cy="942975"/>
            <a:chOff x="0" y="0"/>
            <a:chExt cx="76200" cy="1257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57300"/>
                  </a:lnTo>
                  <a:lnTo>
                    <a:pt x="0" y="12573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993856" y="4660402"/>
            <a:ext cx="8929688" cy="1271588"/>
            <a:chOff x="0" y="0"/>
            <a:chExt cx="11906250" cy="1695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06250" cy="1695450"/>
            </a:xfrm>
            <a:custGeom>
              <a:avLst/>
              <a:gdLst/>
              <a:ahLst/>
              <a:cxnLst/>
              <a:rect r="r" b="b" t="t" l="l"/>
              <a:pathLst>
                <a:path h="1695450" w="11906250">
                  <a:moveTo>
                    <a:pt x="0" y="154178"/>
                  </a:moveTo>
                  <a:cubicBezTo>
                    <a:pt x="0" y="68961"/>
                    <a:pt x="68961" y="0"/>
                    <a:pt x="154178" y="0"/>
                  </a:cubicBezTo>
                  <a:lnTo>
                    <a:pt x="11752072" y="0"/>
                  </a:lnTo>
                  <a:cubicBezTo>
                    <a:pt x="11837162" y="0"/>
                    <a:pt x="11906250" y="68961"/>
                    <a:pt x="11906250" y="154178"/>
                  </a:cubicBezTo>
                  <a:lnTo>
                    <a:pt x="11906250" y="1541272"/>
                  </a:lnTo>
                  <a:cubicBezTo>
                    <a:pt x="11906250" y="1626362"/>
                    <a:pt x="11837289" y="1695450"/>
                    <a:pt x="11752072" y="1695450"/>
                  </a:cubicBezTo>
                  <a:lnTo>
                    <a:pt x="154178" y="1695450"/>
                  </a:lnTo>
                  <a:cubicBezTo>
                    <a:pt x="68961" y="1695450"/>
                    <a:pt x="0" y="1626489"/>
                    <a:pt x="0" y="1541272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47556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993856" y="6146302"/>
            <a:ext cx="8929688" cy="1271588"/>
            <a:chOff x="0" y="0"/>
            <a:chExt cx="11906250" cy="1695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906250" cy="1695450"/>
            </a:xfrm>
            <a:custGeom>
              <a:avLst/>
              <a:gdLst/>
              <a:ahLst/>
              <a:cxnLst/>
              <a:rect r="r" b="b" t="t" l="l"/>
              <a:pathLst>
                <a:path h="1695450" w="11906250">
                  <a:moveTo>
                    <a:pt x="0" y="154178"/>
                  </a:moveTo>
                  <a:cubicBezTo>
                    <a:pt x="0" y="68961"/>
                    <a:pt x="68961" y="0"/>
                    <a:pt x="154178" y="0"/>
                  </a:cubicBezTo>
                  <a:lnTo>
                    <a:pt x="11752072" y="0"/>
                  </a:lnTo>
                  <a:cubicBezTo>
                    <a:pt x="11837162" y="0"/>
                    <a:pt x="11906250" y="68961"/>
                    <a:pt x="11906250" y="154178"/>
                  </a:cubicBezTo>
                  <a:lnTo>
                    <a:pt x="11906250" y="1541272"/>
                  </a:lnTo>
                  <a:cubicBezTo>
                    <a:pt x="11906250" y="1626362"/>
                    <a:pt x="11837289" y="1695450"/>
                    <a:pt x="11752072" y="1695450"/>
                  </a:cubicBezTo>
                  <a:lnTo>
                    <a:pt x="154178" y="1695450"/>
                  </a:lnTo>
                  <a:cubicBezTo>
                    <a:pt x="68961" y="1695450"/>
                    <a:pt x="0" y="1626489"/>
                    <a:pt x="0" y="1541272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47556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43888" y="5381920"/>
            <a:ext cx="1857375" cy="300038"/>
            <a:chOff x="0" y="0"/>
            <a:chExt cx="2476500" cy="400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7650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72712" y="5381920"/>
            <a:ext cx="2143125" cy="300038"/>
            <a:chOff x="0" y="0"/>
            <a:chExt cx="2857500" cy="400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57500" cy="400050"/>
            </a:xfrm>
            <a:custGeom>
              <a:avLst/>
              <a:gdLst/>
              <a:ahLst/>
              <a:cxnLst/>
              <a:rect r="r" b="b" t="t" l="l"/>
              <a:pathLst>
                <a:path h="40005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87288" y="5381920"/>
            <a:ext cx="1857375" cy="300038"/>
            <a:chOff x="0" y="0"/>
            <a:chExt cx="2476500" cy="400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7650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43888" y="6867820"/>
            <a:ext cx="2571750" cy="300038"/>
            <a:chOff x="0" y="0"/>
            <a:chExt cx="3429000" cy="400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29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87088" y="6867820"/>
            <a:ext cx="2571750" cy="300038"/>
            <a:chOff x="0" y="0"/>
            <a:chExt cx="3429000" cy="400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29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INFRASTRUCTURE SURFACE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System-Level Attacks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3355477"/>
            <a:ext cx="60864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Targeting the surrounding application stack: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3000" y="4469902"/>
            <a:ext cx="562927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Metadata Leaks:</a:t>
            </a:r>
            <a:r>
              <a:rPr lang="en-US" sz="180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Architecture, framework versions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3000" y="5641477"/>
            <a:ext cx="562927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Credentials:</a:t>
            </a:r>
            <a:r>
              <a:rPr lang="en-US" sz="180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API keys in environment variables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" y="6513014"/>
            <a:ext cx="562927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Container Config:</a:t>
            </a:r>
            <a:r>
              <a:rPr lang="en-US" sz="180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Root privileges, volume mounts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3000" y="7384552"/>
            <a:ext cx="562927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Resource Controls:</a:t>
            </a:r>
            <a:r>
              <a:rPr lang="en-US" sz="180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Rate limit gaps, memory quotas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01000" y="4138908"/>
            <a:ext cx="102870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F444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CONTAINER CROSS-SECTION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43888" y="4891383"/>
            <a:ext cx="1004411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FastAPI App Process (Root privileges)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243888" y="6377283"/>
            <a:ext cx="1004411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ACC15"/>
                </a:solidFill>
                <a:latin typeface="Arimo Bold"/>
                <a:ea typeface="Arimo Bold"/>
                <a:cs typeface="Arimo Bold"/>
                <a:sym typeface="Arimo Bold"/>
              </a:rPr>
              <a:t>Mounted Volumes &amp; Environment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43888" y="5381920"/>
            <a:ext cx="2321719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/docs exposed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72712" y="5381920"/>
            <a:ext cx="2678906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 traces 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87288" y="5381920"/>
            <a:ext cx="2321719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rate limit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43888" y="6867820"/>
            <a:ext cx="3214688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Plaintext API keys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987088" y="6867820"/>
            <a:ext cx="3214688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Host paths exposed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3174502"/>
            <a:ext cx="8072438" cy="2071688"/>
            <a:chOff x="0" y="0"/>
            <a:chExt cx="10763250" cy="2762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325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0763250">
                  <a:moveTo>
                    <a:pt x="0" y="230124"/>
                  </a:moveTo>
                  <a:cubicBezTo>
                    <a:pt x="0" y="102997"/>
                    <a:pt x="102997" y="0"/>
                    <a:pt x="230124" y="0"/>
                  </a:cubicBezTo>
                  <a:lnTo>
                    <a:pt x="10533126" y="0"/>
                  </a:lnTo>
                  <a:cubicBezTo>
                    <a:pt x="10660253" y="0"/>
                    <a:pt x="10763250" y="102997"/>
                    <a:pt x="10763250" y="230124"/>
                  </a:cubicBezTo>
                  <a:lnTo>
                    <a:pt x="10763250" y="2532126"/>
                  </a:lnTo>
                  <a:cubicBezTo>
                    <a:pt x="10763250" y="2659253"/>
                    <a:pt x="10660253" y="2762250"/>
                    <a:pt x="10533126" y="2762250"/>
                  </a:cubicBezTo>
                  <a:lnTo>
                    <a:pt x="230124" y="2762250"/>
                  </a:lnTo>
                  <a:cubicBezTo>
                    <a:pt x="102997" y="2762250"/>
                    <a:pt x="0" y="2659253"/>
                    <a:pt x="0" y="2532126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08306" y="3174502"/>
            <a:ext cx="8072438" cy="2071688"/>
            <a:chOff x="0" y="0"/>
            <a:chExt cx="10763250" cy="2762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325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0763250">
                  <a:moveTo>
                    <a:pt x="0" y="230124"/>
                  </a:moveTo>
                  <a:cubicBezTo>
                    <a:pt x="0" y="102997"/>
                    <a:pt x="102997" y="0"/>
                    <a:pt x="230124" y="0"/>
                  </a:cubicBezTo>
                  <a:lnTo>
                    <a:pt x="10533126" y="0"/>
                  </a:lnTo>
                  <a:cubicBezTo>
                    <a:pt x="10660253" y="0"/>
                    <a:pt x="10763250" y="102997"/>
                    <a:pt x="10763250" y="230124"/>
                  </a:cubicBezTo>
                  <a:lnTo>
                    <a:pt x="10763250" y="2532126"/>
                  </a:lnTo>
                  <a:cubicBezTo>
                    <a:pt x="10763250" y="2659253"/>
                    <a:pt x="10660253" y="2762250"/>
                    <a:pt x="10533126" y="2762250"/>
                  </a:cubicBezTo>
                  <a:lnTo>
                    <a:pt x="230124" y="2762250"/>
                  </a:lnTo>
                  <a:cubicBezTo>
                    <a:pt x="102997" y="2762250"/>
                    <a:pt x="0" y="2659253"/>
                    <a:pt x="0" y="2532126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107781" y="5755629"/>
            <a:ext cx="8072438" cy="2071688"/>
            <a:chOff x="0" y="0"/>
            <a:chExt cx="10763250" cy="2762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325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0763250">
                  <a:moveTo>
                    <a:pt x="0" y="230124"/>
                  </a:moveTo>
                  <a:cubicBezTo>
                    <a:pt x="0" y="102997"/>
                    <a:pt x="102997" y="0"/>
                    <a:pt x="230124" y="0"/>
                  </a:cubicBezTo>
                  <a:lnTo>
                    <a:pt x="10533126" y="0"/>
                  </a:lnTo>
                  <a:cubicBezTo>
                    <a:pt x="10660253" y="0"/>
                    <a:pt x="10763250" y="102997"/>
                    <a:pt x="10763250" y="230124"/>
                  </a:cubicBezTo>
                  <a:lnTo>
                    <a:pt x="10763250" y="2532126"/>
                  </a:lnTo>
                  <a:cubicBezTo>
                    <a:pt x="10763250" y="2659253"/>
                    <a:pt x="10660253" y="2762250"/>
                    <a:pt x="10533126" y="2762250"/>
                  </a:cubicBezTo>
                  <a:lnTo>
                    <a:pt x="230124" y="2762250"/>
                  </a:lnTo>
                  <a:cubicBezTo>
                    <a:pt x="102997" y="2762250"/>
                    <a:pt x="0" y="2659253"/>
                    <a:pt x="0" y="2532126"/>
                  </a:cubicBezTo>
                  <a:close/>
                </a:path>
              </a:pathLst>
            </a:custGeom>
            <a:solidFill>
              <a:srgbClr val="E0F2FE"/>
            </a:solidFill>
            <a:ln w="14288" cap="sq">
              <a:solidFill>
                <a:srgbClr val="7DD3F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00912" y="3610270"/>
            <a:ext cx="1257300" cy="371475"/>
            <a:chOff x="0" y="0"/>
            <a:chExt cx="1676400" cy="495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76400" cy="495300"/>
            </a:xfrm>
            <a:custGeom>
              <a:avLst/>
              <a:gdLst/>
              <a:ahLst/>
              <a:cxnLst/>
              <a:rect r="r" b="b" t="t" l="l"/>
              <a:pathLst>
                <a:path h="495300" w="1676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600200" y="0"/>
                  </a:lnTo>
                  <a:cubicBezTo>
                    <a:pt x="1642237" y="0"/>
                    <a:pt x="1676400" y="34163"/>
                    <a:pt x="1676400" y="76200"/>
                  </a:cubicBezTo>
                  <a:lnTo>
                    <a:pt x="1676400" y="419100"/>
                  </a:lnTo>
                  <a:cubicBezTo>
                    <a:pt x="1676400" y="461137"/>
                    <a:pt x="1642237" y="495300"/>
                    <a:pt x="16002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701962" y="3610270"/>
            <a:ext cx="1257300" cy="371475"/>
            <a:chOff x="0" y="0"/>
            <a:chExt cx="1676400" cy="495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6400" cy="495300"/>
            </a:xfrm>
            <a:custGeom>
              <a:avLst/>
              <a:gdLst/>
              <a:ahLst/>
              <a:cxnLst/>
              <a:rect r="r" b="b" t="t" l="l"/>
              <a:pathLst>
                <a:path h="495300" w="1676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600200" y="0"/>
                  </a:lnTo>
                  <a:cubicBezTo>
                    <a:pt x="1642237" y="0"/>
                    <a:pt x="1676400" y="34163"/>
                    <a:pt x="1676400" y="76200"/>
                  </a:cubicBezTo>
                  <a:lnTo>
                    <a:pt x="1676400" y="419100"/>
                  </a:lnTo>
                  <a:cubicBezTo>
                    <a:pt x="1676400" y="461137"/>
                    <a:pt x="1642237" y="495300"/>
                    <a:pt x="16002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44325" y="6191398"/>
            <a:ext cx="1014412" cy="371475"/>
            <a:chOff x="0" y="0"/>
            <a:chExt cx="1352550" cy="495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2550" cy="495300"/>
            </a:xfrm>
            <a:custGeom>
              <a:avLst/>
              <a:gdLst/>
              <a:ahLst/>
              <a:cxnLst/>
              <a:rect r="r" b="b" t="t" l="l"/>
              <a:pathLst>
                <a:path h="495300" w="13525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76350" y="0"/>
                  </a:lnTo>
                  <a:cubicBezTo>
                    <a:pt x="1318387" y="0"/>
                    <a:pt x="1352550" y="34163"/>
                    <a:pt x="1352550" y="76200"/>
                  </a:cubicBezTo>
                  <a:lnTo>
                    <a:pt x="1352550" y="419100"/>
                  </a:lnTo>
                  <a:cubicBezTo>
                    <a:pt x="1352550" y="461137"/>
                    <a:pt x="1318387" y="495300"/>
                    <a:pt x="12763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CFF4F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SCOPE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143000"/>
            <a:ext cx="6986468" cy="57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Implemented Model Attacks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Bottom line: Three demonstrated with empirical data. The fourth requires offline access.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8738" y="4157958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Craft inputs that look normal to humans but fool model predictions.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29788" y="4157958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Systematically query the inference API to train a duplicate substitute model.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29262" y="6739085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Determine whether specific data samples were included in the training set.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8738" y="3586458"/>
            <a:ext cx="202525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Evasion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43788" y="3657895"/>
            <a:ext cx="11144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COVERED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29788" y="3586458"/>
            <a:ext cx="256907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Extraction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44838" y="3657895"/>
            <a:ext cx="11144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COVERED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9262" y="6167585"/>
            <a:ext cx="496937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Membership Inference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87200" y="6239023"/>
            <a:ext cx="8715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55160"/>
                </a:solidFill>
                <a:latin typeface="Arimo Bold"/>
                <a:ea typeface="Arimo Bold"/>
                <a:cs typeface="Arimo Bold"/>
                <a:sym typeface="Arimo Bold"/>
              </a:rPr>
              <a:t>BONUS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5160464"/>
            <a:ext cx="1949129" cy="1228725"/>
            <a:chOff x="0" y="0"/>
            <a:chExt cx="2598839" cy="163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327873" y="5160464"/>
            <a:ext cx="1949129" cy="1228725"/>
            <a:chOff x="0" y="0"/>
            <a:chExt cx="2598839" cy="1638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748490" y="5160464"/>
            <a:ext cx="1949129" cy="1228725"/>
            <a:chOff x="0" y="0"/>
            <a:chExt cx="2598839" cy="1638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169097" y="5160464"/>
            <a:ext cx="1949129" cy="1228725"/>
            <a:chOff x="0" y="0"/>
            <a:chExt cx="2598839" cy="1638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589714" y="5160464"/>
            <a:ext cx="1949129" cy="1228725"/>
            <a:chOff x="0" y="0"/>
            <a:chExt cx="2598839" cy="1638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D1E7DD"/>
            </a:solidFill>
            <a:ln w="14288" cap="sq">
              <a:solidFill>
                <a:srgbClr val="A3CFB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10331" y="5160464"/>
            <a:ext cx="1949129" cy="1228725"/>
            <a:chOff x="0" y="0"/>
            <a:chExt cx="2598839" cy="1638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D1E7DD"/>
            </a:solidFill>
            <a:ln w="14288" cap="sq">
              <a:solidFill>
                <a:srgbClr val="A3CFB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30948" y="5160464"/>
            <a:ext cx="1949129" cy="1228725"/>
            <a:chOff x="0" y="0"/>
            <a:chExt cx="2598839" cy="1638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8801" cy="1638300"/>
            </a:xfrm>
            <a:custGeom>
              <a:avLst/>
              <a:gdLst/>
              <a:ahLst/>
              <a:cxnLst/>
              <a:rect r="r" b="b" t="t" l="l"/>
              <a:pathLst>
                <a:path h="1638300" w="2598801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2444623" y="0"/>
                  </a:lnTo>
                  <a:cubicBezTo>
                    <a:pt x="2529713" y="0"/>
                    <a:pt x="2598801" y="69088"/>
                    <a:pt x="2598801" y="154178"/>
                  </a:cubicBezTo>
                  <a:lnTo>
                    <a:pt x="2598801" y="1484122"/>
                  </a:lnTo>
                  <a:cubicBezTo>
                    <a:pt x="2598801" y="1569212"/>
                    <a:pt x="2529713" y="1638300"/>
                    <a:pt x="2444623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D1E7DD"/>
            </a:solidFill>
            <a:ln w="14288" cap="sq">
              <a:solidFill>
                <a:srgbClr val="A3CFB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020692" y="5660527"/>
            <a:ext cx="142875" cy="228600"/>
            <a:chOff x="0" y="0"/>
            <a:chExt cx="190500" cy="304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66" t="0" r="-175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41309" y="5660527"/>
            <a:ext cx="142875" cy="228600"/>
            <a:chOff x="0" y="0"/>
            <a:chExt cx="190500" cy="304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66" t="0" r="-1759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61916" y="5660527"/>
            <a:ext cx="142875" cy="228600"/>
            <a:chOff x="0" y="0"/>
            <a:chExt cx="190500" cy="304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66" t="0" r="-175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2533" y="5660527"/>
            <a:ext cx="142875" cy="228600"/>
            <a:chOff x="0" y="0"/>
            <a:chExt cx="190500" cy="304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66" t="0" r="-175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703150" y="5660527"/>
            <a:ext cx="142875" cy="228600"/>
            <a:chOff x="0" y="0"/>
            <a:chExt cx="190500" cy="304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66" t="0" r="-1759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123766" y="5660527"/>
            <a:ext cx="142875" cy="228600"/>
            <a:chOff x="0" y="0"/>
            <a:chExt cx="190500" cy="304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66" t="0" r="-1759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END-TO-END OPERATION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Attack Lifecycle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5825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RECON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5825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Metadata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06442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ENUMERATE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06442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Endpoints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27059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CRAFT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27059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Payloads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47666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EXPLOIT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47666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Execution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68283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DETECT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68283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Rules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88900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NOTIFY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88900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Alerting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409516" y="5467645"/>
            <a:ext cx="19919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REMEDIATE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409516" y="5762920"/>
            <a:ext cx="199199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Hardening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531918"/>
            <a:ext cx="5257800" cy="2543175"/>
            <a:chOff x="0" y="0"/>
            <a:chExt cx="7010400" cy="3390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0400" cy="3390900"/>
            </a:xfrm>
            <a:custGeom>
              <a:avLst/>
              <a:gdLst/>
              <a:ahLst/>
              <a:cxnLst/>
              <a:rect r="r" b="b" t="t" l="l"/>
              <a:pathLst>
                <a:path h="33909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3162300"/>
                  </a:lnTo>
                  <a:cubicBezTo>
                    <a:pt x="7010400" y="3288538"/>
                    <a:pt x="6908038" y="3390900"/>
                    <a:pt x="6781800" y="3390900"/>
                  </a:cubicBezTo>
                  <a:lnTo>
                    <a:pt x="228600" y="3390900"/>
                  </a:lnTo>
                  <a:cubicBezTo>
                    <a:pt x="102362" y="3390900"/>
                    <a:pt x="0" y="3288538"/>
                    <a:pt x="0" y="31623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15100" y="3367611"/>
            <a:ext cx="5257800" cy="2871788"/>
            <a:chOff x="0" y="0"/>
            <a:chExt cx="7010400" cy="382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0400" cy="3829050"/>
            </a:xfrm>
            <a:custGeom>
              <a:avLst/>
              <a:gdLst/>
              <a:ahLst/>
              <a:cxnLst/>
              <a:rect r="r" b="b" t="t" l="l"/>
              <a:pathLst>
                <a:path h="382905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3600450"/>
                  </a:lnTo>
                  <a:cubicBezTo>
                    <a:pt x="7010400" y="3726688"/>
                    <a:pt x="6908038" y="3829050"/>
                    <a:pt x="6781800" y="3829050"/>
                  </a:cubicBezTo>
                  <a:lnTo>
                    <a:pt x="228600" y="3829050"/>
                  </a:lnTo>
                  <a:cubicBezTo>
                    <a:pt x="102362" y="3829050"/>
                    <a:pt x="0" y="3726688"/>
                    <a:pt x="0" y="36004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800" y="3367611"/>
            <a:ext cx="5257800" cy="2871788"/>
            <a:chOff x="0" y="0"/>
            <a:chExt cx="7010400" cy="382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400" cy="3829050"/>
            </a:xfrm>
            <a:custGeom>
              <a:avLst/>
              <a:gdLst/>
              <a:ahLst/>
              <a:cxnLst/>
              <a:rect r="r" b="b" t="t" l="l"/>
              <a:pathLst>
                <a:path h="382905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3600450"/>
                  </a:lnTo>
                  <a:cubicBezTo>
                    <a:pt x="7010400" y="3726688"/>
                    <a:pt x="6908038" y="3829050"/>
                    <a:pt x="6781800" y="3829050"/>
                  </a:cubicBezTo>
                  <a:lnTo>
                    <a:pt x="228600" y="3829050"/>
                  </a:lnTo>
                  <a:cubicBezTo>
                    <a:pt x="102362" y="3829050"/>
                    <a:pt x="0" y="3726688"/>
                    <a:pt x="0" y="36004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060805"/>
            <a:ext cx="5257800" cy="14288"/>
            <a:chOff x="0" y="0"/>
            <a:chExt cx="70104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531918"/>
            <a:ext cx="5257800" cy="85725"/>
            <a:chOff x="0" y="0"/>
            <a:chExt cx="7010400" cy="114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0400" cy="114300"/>
            </a:xfrm>
            <a:custGeom>
              <a:avLst/>
              <a:gdLst/>
              <a:ahLst/>
              <a:cxnLst/>
              <a:rect r="r" b="b" t="t" l="l"/>
              <a:pathLst>
                <a:path h="1143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531918"/>
            <a:ext cx="14288" cy="2543175"/>
            <a:chOff x="0" y="0"/>
            <a:chExt cx="19050" cy="3390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" cy="3390900"/>
            </a:xfrm>
            <a:custGeom>
              <a:avLst/>
              <a:gdLst/>
              <a:ahLst/>
              <a:cxnLst/>
              <a:rect r="r" b="b" t="t" l="l"/>
              <a:pathLst>
                <a:path h="33909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390900"/>
                  </a:lnTo>
                  <a:lnTo>
                    <a:pt x="0" y="3390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57912" y="3531918"/>
            <a:ext cx="14288" cy="2543175"/>
            <a:chOff x="0" y="0"/>
            <a:chExt cx="19050" cy="3390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3390900"/>
            </a:xfrm>
            <a:custGeom>
              <a:avLst/>
              <a:gdLst/>
              <a:ahLst/>
              <a:cxnLst/>
              <a:rect r="r" b="b" t="t" l="l"/>
              <a:pathLst>
                <a:path h="33909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390900"/>
                  </a:lnTo>
                  <a:lnTo>
                    <a:pt x="0" y="3390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15100" y="6225111"/>
            <a:ext cx="5257800" cy="14288"/>
            <a:chOff x="0" y="0"/>
            <a:chExt cx="70104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15100" y="3367611"/>
            <a:ext cx="5257800" cy="85725"/>
            <a:chOff x="0" y="0"/>
            <a:chExt cx="7010400" cy="114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10400" cy="114300"/>
            </a:xfrm>
            <a:custGeom>
              <a:avLst/>
              <a:gdLst/>
              <a:ahLst/>
              <a:cxnLst/>
              <a:rect r="r" b="b" t="t" l="l"/>
              <a:pathLst>
                <a:path h="1143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15100" y="3367611"/>
            <a:ext cx="14288" cy="2871788"/>
            <a:chOff x="0" y="0"/>
            <a:chExt cx="19050" cy="382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3829050"/>
            </a:xfrm>
            <a:custGeom>
              <a:avLst/>
              <a:gdLst/>
              <a:ahLst/>
              <a:cxnLst/>
              <a:rect r="r" b="b" t="t" l="l"/>
              <a:pathLst>
                <a:path h="38290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29050"/>
                  </a:lnTo>
                  <a:lnTo>
                    <a:pt x="0" y="382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58612" y="3367611"/>
            <a:ext cx="14288" cy="2871788"/>
            <a:chOff x="0" y="0"/>
            <a:chExt cx="19050" cy="382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3829050"/>
            </a:xfrm>
            <a:custGeom>
              <a:avLst/>
              <a:gdLst/>
              <a:ahLst/>
              <a:cxnLst/>
              <a:rect r="r" b="b" t="t" l="l"/>
              <a:pathLst>
                <a:path h="38290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29050"/>
                  </a:lnTo>
                  <a:lnTo>
                    <a:pt x="0" y="382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15800" y="6225111"/>
            <a:ext cx="5257800" cy="14288"/>
            <a:chOff x="0" y="0"/>
            <a:chExt cx="70104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15800" y="3367611"/>
            <a:ext cx="5257800" cy="85725"/>
            <a:chOff x="0" y="0"/>
            <a:chExt cx="7010400" cy="114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114300"/>
            </a:xfrm>
            <a:custGeom>
              <a:avLst/>
              <a:gdLst/>
              <a:ahLst/>
              <a:cxnLst/>
              <a:rect r="r" b="b" t="t" l="l"/>
              <a:pathLst>
                <a:path h="1143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15800" y="3367611"/>
            <a:ext cx="14288" cy="2871788"/>
            <a:chOff x="0" y="0"/>
            <a:chExt cx="19050" cy="382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3829050"/>
            </a:xfrm>
            <a:custGeom>
              <a:avLst/>
              <a:gdLst/>
              <a:ahLst/>
              <a:cxnLst/>
              <a:rect r="r" b="b" t="t" l="l"/>
              <a:pathLst>
                <a:path h="38290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29050"/>
                  </a:lnTo>
                  <a:lnTo>
                    <a:pt x="0" y="382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359312" y="3367611"/>
            <a:ext cx="14288" cy="2871788"/>
            <a:chOff x="0" y="0"/>
            <a:chExt cx="19050" cy="382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" cy="3829050"/>
            </a:xfrm>
            <a:custGeom>
              <a:avLst/>
              <a:gdLst/>
              <a:ahLst/>
              <a:cxnLst/>
              <a:rect r="r" b="b" t="t" l="l"/>
              <a:pathLst>
                <a:path h="38290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29050"/>
                  </a:lnTo>
                  <a:lnTo>
                    <a:pt x="0" y="382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507853" y="7772619"/>
            <a:ext cx="3272057" cy="1714281"/>
            <a:chOff x="0" y="0"/>
            <a:chExt cx="4362742" cy="2285708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362704" cy="2285746"/>
            </a:xfrm>
            <a:custGeom>
              <a:avLst/>
              <a:gdLst/>
              <a:ahLst/>
              <a:cxnLst/>
              <a:rect r="r" b="b" t="t" l="l"/>
              <a:pathLst>
                <a:path h="2285746" w="4362704">
                  <a:moveTo>
                    <a:pt x="0" y="0"/>
                  </a:moveTo>
                  <a:lnTo>
                    <a:pt x="4362704" y="0"/>
                  </a:lnTo>
                  <a:lnTo>
                    <a:pt x="4362704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8" t="0" r="-209" b="1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DEFENSE ARCHITECTURE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Defense Taxonomy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8738" y="4017693"/>
            <a:ext cx="5536406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5966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PREVENTIVE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8738" y="4422505"/>
            <a:ext cx="581322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Stop at Boundary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8738" y="4994005"/>
            <a:ext cx="4572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Rate limiting, input validation, API auth, adversarial model training.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29438" y="3853386"/>
            <a:ext cx="5536406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9770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CORRECTIVE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29438" y="4258199"/>
            <a:ext cx="581322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Active Response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29438" y="4829699"/>
            <a:ext cx="4572000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IP blocklisting, key revocation, artifact quarantine, rate limit enforcement.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30138" y="3853386"/>
            <a:ext cx="5536406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284C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DETECTIVE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30138" y="4258199"/>
            <a:ext cx="57578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Real-Time Visibility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30138" y="4829699"/>
            <a:ext cx="4572000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Log parsers, signature rules, cooldown filters, Telegram notifications.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09474" y="3260227"/>
            <a:ext cx="9464126" cy="1085850"/>
            <a:chOff x="0" y="0"/>
            <a:chExt cx="12618834" cy="144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8847" cy="1447800"/>
            </a:xfrm>
            <a:custGeom>
              <a:avLst/>
              <a:gdLst/>
              <a:ahLst/>
              <a:cxnLst/>
              <a:rect r="r" b="b" t="t" l="l"/>
              <a:pathLst>
                <a:path h="1447800" w="126188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466447" y="0"/>
                  </a:lnTo>
                  <a:cubicBezTo>
                    <a:pt x="12550648" y="0"/>
                    <a:pt x="12618847" y="68199"/>
                    <a:pt x="12618847" y="152400"/>
                  </a:cubicBezTo>
                  <a:lnTo>
                    <a:pt x="12618847" y="1295400"/>
                  </a:lnTo>
                  <a:cubicBezTo>
                    <a:pt x="12618847" y="1379601"/>
                    <a:pt x="12550648" y="1447800"/>
                    <a:pt x="12466447" y="1447800"/>
                  </a:cubicBezTo>
                  <a:lnTo>
                    <a:pt x="152400" y="1447800"/>
                  </a:lnTo>
                  <a:cubicBezTo>
                    <a:pt x="68199" y="1447800"/>
                    <a:pt x="0" y="1379601"/>
                    <a:pt x="0" y="12954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09474" y="4574677"/>
            <a:ext cx="9464126" cy="1085850"/>
            <a:chOff x="0" y="0"/>
            <a:chExt cx="12618834" cy="1447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18847" cy="1447800"/>
            </a:xfrm>
            <a:custGeom>
              <a:avLst/>
              <a:gdLst/>
              <a:ahLst/>
              <a:cxnLst/>
              <a:rect r="r" b="b" t="t" l="l"/>
              <a:pathLst>
                <a:path h="1447800" w="126188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466447" y="0"/>
                  </a:lnTo>
                  <a:cubicBezTo>
                    <a:pt x="12550648" y="0"/>
                    <a:pt x="12618847" y="68199"/>
                    <a:pt x="12618847" y="152400"/>
                  </a:cubicBezTo>
                  <a:lnTo>
                    <a:pt x="12618847" y="1295400"/>
                  </a:lnTo>
                  <a:cubicBezTo>
                    <a:pt x="12618847" y="1379601"/>
                    <a:pt x="12550648" y="1447800"/>
                    <a:pt x="12466447" y="1447800"/>
                  </a:cubicBezTo>
                  <a:lnTo>
                    <a:pt x="152400" y="1447800"/>
                  </a:lnTo>
                  <a:cubicBezTo>
                    <a:pt x="68199" y="1447800"/>
                    <a:pt x="0" y="1379601"/>
                    <a:pt x="0" y="12954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09474" y="5889127"/>
            <a:ext cx="9464126" cy="1085850"/>
            <a:chOff x="0" y="0"/>
            <a:chExt cx="12618834" cy="144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18847" cy="1447800"/>
            </a:xfrm>
            <a:custGeom>
              <a:avLst/>
              <a:gdLst/>
              <a:ahLst/>
              <a:cxnLst/>
              <a:rect r="r" b="b" t="t" l="l"/>
              <a:pathLst>
                <a:path h="1447800" w="126188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466447" y="0"/>
                  </a:lnTo>
                  <a:cubicBezTo>
                    <a:pt x="12550648" y="0"/>
                    <a:pt x="12618847" y="68199"/>
                    <a:pt x="12618847" y="152400"/>
                  </a:cubicBezTo>
                  <a:lnTo>
                    <a:pt x="12618847" y="1295400"/>
                  </a:lnTo>
                  <a:cubicBezTo>
                    <a:pt x="12618847" y="1379601"/>
                    <a:pt x="12550648" y="1447800"/>
                    <a:pt x="12466447" y="1447800"/>
                  </a:cubicBezTo>
                  <a:lnTo>
                    <a:pt x="152400" y="1447800"/>
                  </a:lnTo>
                  <a:cubicBezTo>
                    <a:pt x="68199" y="1447800"/>
                    <a:pt x="0" y="1379601"/>
                    <a:pt x="0" y="12954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09474" y="7203577"/>
            <a:ext cx="9464126" cy="1085850"/>
            <a:chOff x="0" y="0"/>
            <a:chExt cx="12618834" cy="144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18847" cy="1447800"/>
            </a:xfrm>
            <a:custGeom>
              <a:avLst/>
              <a:gdLst/>
              <a:ahLst/>
              <a:cxnLst/>
              <a:rect r="r" b="b" t="t" l="l"/>
              <a:pathLst>
                <a:path h="1447800" w="12618847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466447" y="0"/>
                  </a:lnTo>
                  <a:cubicBezTo>
                    <a:pt x="12550648" y="0"/>
                    <a:pt x="12618847" y="68199"/>
                    <a:pt x="12618847" y="152400"/>
                  </a:cubicBezTo>
                  <a:lnTo>
                    <a:pt x="12618847" y="1295400"/>
                  </a:lnTo>
                  <a:cubicBezTo>
                    <a:pt x="12618847" y="1379601"/>
                    <a:pt x="12550648" y="1447800"/>
                    <a:pt x="12466447" y="1447800"/>
                  </a:cubicBezTo>
                  <a:lnTo>
                    <a:pt x="152400" y="1447800"/>
                  </a:lnTo>
                  <a:cubicBezTo>
                    <a:pt x="68199" y="1447800"/>
                    <a:pt x="0" y="1379601"/>
                    <a:pt x="0" y="12954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09474" y="3260227"/>
            <a:ext cx="57150" cy="1085850"/>
            <a:chOff x="0" y="0"/>
            <a:chExt cx="76200" cy="144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09474" y="4574677"/>
            <a:ext cx="57150" cy="1085850"/>
            <a:chOff x="0" y="0"/>
            <a:chExt cx="76200" cy="1447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09474" y="5889127"/>
            <a:ext cx="57150" cy="1085850"/>
            <a:chOff x="0" y="0"/>
            <a:chExt cx="76200" cy="1447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909474" y="7203577"/>
            <a:ext cx="57150" cy="1085850"/>
            <a:chOff x="0" y="0"/>
            <a:chExt cx="76200" cy="144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3345952"/>
            <a:ext cx="6309274" cy="4857750"/>
            <a:chOff x="0" y="0"/>
            <a:chExt cx="8412366" cy="6477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412353" cy="6477000"/>
            </a:xfrm>
            <a:custGeom>
              <a:avLst/>
              <a:gdLst/>
              <a:ahLst/>
              <a:cxnLst/>
              <a:rect r="r" b="b" t="t" l="l"/>
              <a:pathLst>
                <a:path h="6477000" w="8412353">
                  <a:moveTo>
                    <a:pt x="0" y="0"/>
                  </a:moveTo>
                  <a:lnTo>
                    <a:pt x="8412353" y="0"/>
                  </a:lnTo>
                  <a:lnTo>
                    <a:pt x="8412353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0" r="0" b="-10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PREVENTION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Preventive Controls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52374" y="3479302"/>
            <a:ext cx="100356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Rate Limiting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52374" y="3798389"/>
            <a:ext cx="1003562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20 requests / 60 s / IP caps high-volume extraction queries.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52374" y="4793752"/>
            <a:ext cx="100356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Input Validation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2374" y="5112839"/>
            <a:ext cx="1003562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Enforces image dimensions, color channels, and noise heuristics.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52374" y="6108202"/>
            <a:ext cx="100356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Authentication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52374" y="6427289"/>
            <a:ext cx="1003562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Enforces mandatory x-api-key header on hardened endpoints.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52374" y="7422652"/>
            <a:ext cx="100356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4. Robust Models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52374" y="7741739"/>
            <a:ext cx="1003562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Adversarial training with PGD examples raises accuracy floor.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6574927"/>
            <a:ext cx="6323562" cy="1100138"/>
            <a:chOff x="0" y="0"/>
            <a:chExt cx="8431416" cy="1466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1402" cy="1466850"/>
            </a:xfrm>
            <a:custGeom>
              <a:avLst/>
              <a:gdLst/>
              <a:ahLst/>
              <a:cxnLst/>
              <a:rect r="r" b="b" t="t" l="l"/>
              <a:pathLst>
                <a:path h="1466850" w="8431402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8276971" y="0"/>
                  </a:lnTo>
                  <a:cubicBezTo>
                    <a:pt x="8362188" y="0"/>
                    <a:pt x="8431402" y="69088"/>
                    <a:pt x="8431402" y="154432"/>
                  </a:cubicBezTo>
                  <a:lnTo>
                    <a:pt x="8431402" y="1312418"/>
                  </a:lnTo>
                  <a:cubicBezTo>
                    <a:pt x="8431402" y="1397635"/>
                    <a:pt x="8362314" y="1466850"/>
                    <a:pt x="8276971" y="1466850"/>
                  </a:cubicBezTo>
                  <a:lnTo>
                    <a:pt x="154432" y="1466850"/>
                  </a:lnTo>
                  <a:cubicBezTo>
                    <a:pt x="69088" y="1466850"/>
                    <a:pt x="0" y="1397762"/>
                    <a:pt x="0" y="1312418"/>
                  </a:cubicBezTo>
                  <a:close/>
                </a:path>
              </a:pathLst>
            </a:custGeom>
            <a:solidFill>
              <a:srgbClr val="FEF3C7"/>
            </a:solidFill>
            <a:ln w="14288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95187" y="2674439"/>
            <a:ext cx="9492701" cy="1400175"/>
            <a:chOff x="0" y="0"/>
            <a:chExt cx="12656934" cy="1866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56947" cy="1866900"/>
            </a:xfrm>
            <a:custGeom>
              <a:avLst/>
              <a:gdLst/>
              <a:ahLst/>
              <a:cxnLst/>
              <a:rect r="r" b="b" t="t" l="l"/>
              <a:pathLst>
                <a:path h="1866900" w="12656947">
                  <a:moveTo>
                    <a:pt x="0" y="233426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2423521" y="0"/>
                  </a:lnTo>
                  <a:cubicBezTo>
                    <a:pt x="12552426" y="0"/>
                    <a:pt x="12656947" y="104521"/>
                    <a:pt x="12656947" y="233299"/>
                  </a:cubicBezTo>
                  <a:lnTo>
                    <a:pt x="12656947" y="1633474"/>
                  </a:lnTo>
                  <a:cubicBezTo>
                    <a:pt x="12656947" y="1762379"/>
                    <a:pt x="12552426" y="1866900"/>
                    <a:pt x="12423521" y="1866900"/>
                  </a:cubicBezTo>
                  <a:lnTo>
                    <a:pt x="233426" y="1866900"/>
                  </a:lnTo>
                  <a:cubicBezTo>
                    <a:pt x="104521" y="1866900"/>
                    <a:pt x="0" y="1762379"/>
                    <a:pt x="0" y="1633474"/>
                  </a:cubicBezTo>
                  <a:close/>
                </a:path>
              </a:pathLst>
            </a:custGeom>
            <a:solidFill>
              <a:srgbClr val="E0F2FE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895187" y="5074739"/>
            <a:ext cx="9492701" cy="1400175"/>
            <a:chOff x="0" y="0"/>
            <a:chExt cx="12656934" cy="1866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56947" cy="1866900"/>
            </a:xfrm>
            <a:custGeom>
              <a:avLst/>
              <a:gdLst/>
              <a:ahLst/>
              <a:cxnLst/>
              <a:rect r="r" b="b" t="t" l="l"/>
              <a:pathLst>
                <a:path h="1866900" w="12656947">
                  <a:moveTo>
                    <a:pt x="0" y="233426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2423521" y="0"/>
                  </a:lnTo>
                  <a:cubicBezTo>
                    <a:pt x="12552426" y="0"/>
                    <a:pt x="12656947" y="104521"/>
                    <a:pt x="12656947" y="233299"/>
                  </a:cubicBezTo>
                  <a:lnTo>
                    <a:pt x="12656947" y="1633474"/>
                  </a:lnTo>
                  <a:cubicBezTo>
                    <a:pt x="12656947" y="1762379"/>
                    <a:pt x="12552426" y="1866900"/>
                    <a:pt x="12423521" y="1866900"/>
                  </a:cubicBezTo>
                  <a:lnTo>
                    <a:pt x="233426" y="1866900"/>
                  </a:lnTo>
                  <a:cubicBezTo>
                    <a:pt x="104521" y="1866900"/>
                    <a:pt x="0" y="1762379"/>
                    <a:pt x="0" y="1633474"/>
                  </a:cubicBezTo>
                  <a:close/>
                </a:path>
              </a:pathLst>
            </a:custGeom>
            <a:solidFill>
              <a:srgbClr val="FEF3C7"/>
            </a:solidFill>
            <a:ln w="28575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895187" y="7475039"/>
            <a:ext cx="9492701" cy="1400175"/>
            <a:chOff x="0" y="0"/>
            <a:chExt cx="12656934" cy="186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56947" cy="1866900"/>
            </a:xfrm>
            <a:custGeom>
              <a:avLst/>
              <a:gdLst/>
              <a:ahLst/>
              <a:cxnLst/>
              <a:rect r="r" b="b" t="t" l="l"/>
              <a:pathLst>
                <a:path h="1866900" w="12656947">
                  <a:moveTo>
                    <a:pt x="0" y="233426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2423521" y="0"/>
                  </a:lnTo>
                  <a:cubicBezTo>
                    <a:pt x="12552426" y="0"/>
                    <a:pt x="12656947" y="104521"/>
                    <a:pt x="12656947" y="233299"/>
                  </a:cubicBezTo>
                  <a:lnTo>
                    <a:pt x="12656947" y="1633474"/>
                  </a:lnTo>
                  <a:cubicBezTo>
                    <a:pt x="12656947" y="1762379"/>
                    <a:pt x="12552426" y="1866900"/>
                    <a:pt x="12423521" y="1866900"/>
                  </a:cubicBezTo>
                  <a:lnTo>
                    <a:pt x="233426" y="1866900"/>
                  </a:lnTo>
                  <a:cubicBezTo>
                    <a:pt x="104521" y="1866900"/>
                    <a:pt x="0" y="1762379"/>
                    <a:pt x="0" y="1633474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512945" y="4403227"/>
            <a:ext cx="257175" cy="342900"/>
            <a:chOff x="0" y="0"/>
            <a:chExt cx="342900" cy="4572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66" t="0" r="-66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12945" y="6803527"/>
            <a:ext cx="257175" cy="342900"/>
            <a:chOff x="0" y="0"/>
            <a:chExt cx="34290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66" t="0" r="-66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RESPONSE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Corrective Controls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3862683"/>
            <a:ext cx="788658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Response actions to detected attacks: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4515145"/>
            <a:ext cx="788658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Blocklist: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Drop traffic from offending IP addresses.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5072358"/>
            <a:ext cx="645214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Revocation: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Invalidate leaked API credentials instantly.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7256" y="5681958"/>
            <a:ext cx="788658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Quarantine: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Isolate suspect model artifacts.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7288" y="6805908"/>
            <a:ext cx="596637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Implementation Status:</a:t>
            </a:r>
            <a:r>
              <a:rPr lang="en-US" sz="1800">
                <a:solidFill>
                  <a:srgbClr val="92400E"/>
                </a:solidFill>
                <a:latin typeface="Arimo"/>
                <a:ea typeface="Arimo"/>
                <a:cs typeface="Arimo"/>
                <a:sym typeface="Arimo"/>
              </a:rPr>
              <a:t> Rate limiter corrects live; IP blocklist designed; key rotation documented.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90794" y="3050677"/>
            <a:ext cx="1090147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7598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1: DETECT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90794" y="3369764"/>
            <a:ext cx="10901477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C4A6E"/>
                </a:solidFill>
                <a:latin typeface="Arimo"/>
                <a:ea typeface="Arimo"/>
                <a:cs typeface="Arimo"/>
                <a:sym typeface="Arimo"/>
              </a:rPr>
              <a:t>Threshold or heuristic anomaly trigger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90794" y="5450977"/>
            <a:ext cx="1090147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92400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2: DECIDE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90794" y="5770064"/>
            <a:ext cx="10901477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78350F"/>
                </a:solidFill>
                <a:latin typeface="Arimo"/>
                <a:ea typeface="Arimo"/>
                <a:cs typeface="Arimo"/>
                <a:sym typeface="Arimo"/>
              </a:rPr>
              <a:t>Evaluate rule confidence &amp; false-positive risk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90794" y="7851277"/>
            <a:ext cx="1090147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991B1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3: ENFORCE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90794" y="8170364"/>
            <a:ext cx="10901477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Trigger HTTP 429 / revoke token / drop socket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195933"/>
            <a:ext cx="8072438" cy="2414588"/>
            <a:chOff x="0" y="0"/>
            <a:chExt cx="10763250" cy="3219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32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10763250">
                  <a:moveTo>
                    <a:pt x="0" y="229870"/>
                  </a:moveTo>
                  <a:cubicBezTo>
                    <a:pt x="0" y="102997"/>
                    <a:pt x="102997" y="0"/>
                    <a:pt x="229870" y="0"/>
                  </a:cubicBezTo>
                  <a:lnTo>
                    <a:pt x="10533380" y="0"/>
                  </a:lnTo>
                  <a:cubicBezTo>
                    <a:pt x="10660380" y="0"/>
                    <a:pt x="10763250" y="102997"/>
                    <a:pt x="10763250" y="229870"/>
                  </a:cubicBezTo>
                  <a:lnTo>
                    <a:pt x="10763250" y="2989580"/>
                  </a:lnTo>
                  <a:cubicBezTo>
                    <a:pt x="10763250" y="3116580"/>
                    <a:pt x="10660253" y="3219450"/>
                    <a:pt x="10533380" y="3219450"/>
                  </a:cubicBezTo>
                  <a:lnTo>
                    <a:pt x="229870" y="3219450"/>
                  </a:lnTo>
                  <a:cubicBezTo>
                    <a:pt x="102870" y="3219450"/>
                    <a:pt x="0" y="3116453"/>
                    <a:pt x="0" y="29895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08306" y="3195933"/>
            <a:ext cx="8072438" cy="2414588"/>
            <a:chOff x="0" y="0"/>
            <a:chExt cx="10763250" cy="3219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632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10763250">
                  <a:moveTo>
                    <a:pt x="0" y="229870"/>
                  </a:moveTo>
                  <a:cubicBezTo>
                    <a:pt x="0" y="102997"/>
                    <a:pt x="102997" y="0"/>
                    <a:pt x="229870" y="0"/>
                  </a:cubicBezTo>
                  <a:lnTo>
                    <a:pt x="10533380" y="0"/>
                  </a:lnTo>
                  <a:cubicBezTo>
                    <a:pt x="10660380" y="0"/>
                    <a:pt x="10763250" y="102997"/>
                    <a:pt x="10763250" y="229870"/>
                  </a:cubicBezTo>
                  <a:lnTo>
                    <a:pt x="10763250" y="2989580"/>
                  </a:lnTo>
                  <a:cubicBezTo>
                    <a:pt x="10763250" y="3116580"/>
                    <a:pt x="10660253" y="3219450"/>
                    <a:pt x="10533380" y="3219450"/>
                  </a:cubicBezTo>
                  <a:lnTo>
                    <a:pt x="229870" y="3219450"/>
                  </a:lnTo>
                  <a:cubicBezTo>
                    <a:pt x="102870" y="3219450"/>
                    <a:pt x="0" y="3116453"/>
                    <a:pt x="0" y="29895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5939133"/>
            <a:ext cx="8072438" cy="2414588"/>
            <a:chOff x="0" y="0"/>
            <a:chExt cx="10763250" cy="3219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32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10763250">
                  <a:moveTo>
                    <a:pt x="0" y="229870"/>
                  </a:moveTo>
                  <a:cubicBezTo>
                    <a:pt x="0" y="102997"/>
                    <a:pt x="102997" y="0"/>
                    <a:pt x="229870" y="0"/>
                  </a:cubicBezTo>
                  <a:lnTo>
                    <a:pt x="10533380" y="0"/>
                  </a:lnTo>
                  <a:cubicBezTo>
                    <a:pt x="10660380" y="0"/>
                    <a:pt x="10763250" y="102997"/>
                    <a:pt x="10763250" y="229870"/>
                  </a:cubicBezTo>
                  <a:lnTo>
                    <a:pt x="10763250" y="2989580"/>
                  </a:lnTo>
                  <a:cubicBezTo>
                    <a:pt x="10763250" y="3116580"/>
                    <a:pt x="10660253" y="3219450"/>
                    <a:pt x="10533380" y="3219450"/>
                  </a:cubicBezTo>
                  <a:lnTo>
                    <a:pt x="229870" y="3219450"/>
                  </a:lnTo>
                  <a:cubicBezTo>
                    <a:pt x="102870" y="3219450"/>
                    <a:pt x="0" y="3116453"/>
                    <a:pt x="0" y="29895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08306" y="5939133"/>
            <a:ext cx="8072438" cy="2414588"/>
            <a:chOff x="0" y="0"/>
            <a:chExt cx="10763250" cy="3219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32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10763250">
                  <a:moveTo>
                    <a:pt x="0" y="229870"/>
                  </a:moveTo>
                  <a:cubicBezTo>
                    <a:pt x="0" y="102997"/>
                    <a:pt x="102997" y="0"/>
                    <a:pt x="229870" y="0"/>
                  </a:cubicBezTo>
                  <a:lnTo>
                    <a:pt x="10533380" y="0"/>
                  </a:lnTo>
                  <a:cubicBezTo>
                    <a:pt x="10660380" y="0"/>
                    <a:pt x="10763250" y="102997"/>
                    <a:pt x="10763250" y="229870"/>
                  </a:cubicBezTo>
                  <a:lnTo>
                    <a:pt x="10763250" y="2989580"/>
                  </a:lnTo>
                  <a:cubicBezTo>
                    <a:pt x="10763250" y="3116580"/>
                    <a:pt x="10660253" y="3219450"/>
                    <a:pt x="10533380" y="3219450"/>
                  </a:cubicBezTo>
                  <a:lnTo>
                    <a:pt x="229870" y="3219450"/>
                  </a:lnTo>
                  <a:cubicBezTo>
                    <a:pt x="102870" y="3219450"/>
                    <a:pt x="0" y="3116453"/>
                    <a:pt x="0" y="29895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TARGET SPECIFICATION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Target Overview — At a Glance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3617414"/>
            <a:ext cx="903684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3969839"/>
            <a:ext cx="948868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SmallCNN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8738" y="4522289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3 Conv Layers + 2 FC Layers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618,820 Parameters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9788" y="3617414"/>
            <a:ext cx="8558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9788" y="3969839"/>
            <a:ext cx="85582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CIFAR-10 Subset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9788" y="4522289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4-class subset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Airplane · Auto · Bird · Cat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8738" y="6360614"/>
            <a:ext cx="903684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B4530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PIPELINE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8738" y="6713039"/>
            <a:ext cx="948868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FastAPI + Docker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8738" y="7265489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5 containers total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Vulnerable vs Hardened Modes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9788" y="6360614"/>
            <a:ext cx="8558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5966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HOST ENVIRONMENT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29788" y="6713039"/>
            <a:ext cx="85582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Local Linux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9788" y="7265489"/>
            <a:ext cx="73723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8 GB RAM · CPU Inference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Zero cloud dependencies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0112" y="2924470"/>
            <a:ext cx="16487775" cy="914400"/>
            <a:chOff x="0" y="0"/>
            <a:chExt cx="219837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7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83700">
                  <a:moveTo>
                    <a:pt x="0" y="157353"/>
                  </a:moveTo>
                  <a:cubicBezTo>
                    <a:pt x="0" y="70485"/>
                    <a:pt x="70485" y="0"/>
                    <a:pt x="157353" y="0"/>
                  </a:cubicBezTo>
                  <a:lnTo>
                    <a:pt x="21826347" y="0"/>
                  </a:lnTo>
                  <a:cubicBezTo>
                    <a:pt x="21913214" y="0"/>
                    <a:pt x="21983700" y="70485"/>
                    <a:pt x="21983700" y="157353"/>
                  </a:cubicBezTo>
                  <a:lnTo>
                    <a:pt x="21983700" y="1061847"/>
                  </a:lnTo>
                  <a:cubicBezTo>
                    <a:pt x="21983700" y="1148715"/>
                    <a:pt x="21913214" y="1219200"/>
                    <a:pt x="21826347" y="1219200"/>
                  </a:cubicBezTo>
                  <a:lnTo>
                    <a:pt x="157353" y="1219200"/>
                  </a:lnTo>
                  <a:cubicBezTo>
                    <a:pt x="70485" y="1219200"/>
                    <a:pt x="0" y="1148715"/>
                    <a:pt x="0" y="1061847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0112" y="3981745"/>
            <a:ext cx="16487775" cy="914400"/>
            <a:chOff x="0" y="0"/>
            <a:chExt cx="219837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7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83700">
                  <a:moveTo>
                    <a:pt x="0" y="157353"/>
                  </a:moveTo>
                  <a:cubicBezTo>
                    <a:pt x="0" y="70485"/>
                    <a:pt x="70485" y="0"/>
                    <a:pt x="157353" y="0"/>
                  </a:cubicBezTo>
                  <a:lnTo>
                    <a:pt x="21826347" y="0"/>
                  </a:lnTo>
                  <a:cubicBezTo>
                    <a:pt x="21913214" y="0"/>
                    <a:pt x="21983700" y="70485"/>
                    <a:pt x="21983700" y="157353"/>
                  </a:cubicBezTo>
                  <a:lnTo>
                    <a:pt x="21983700" y="1061847"/>
                  </a:lnTo>
                  <a:cubicBezTo>
                    <a:pt x="21983700" y="1148715"/>
                    <a:pt x="21913214" y="1219200"/>
                    <a:pt x="21826347" y="1219200"/>
                  </a:cubicBezTo>
                  <a:lnTo>
                    <a:pt x="157353" y="1219200"/>
                  </a:lnTo>
                  <a:cubicBezTo>
                    <a:pt x="70485" y="1219200"/>
                    <a:pt x="0" y="1148715"/>
                    <a:pt x="0" y="1061847"/>
                  </a:cubicBezTo>
                  <a:close/>
                </a:path>
              </a:pathLst>
            </a:custGeom>
            <a:solidFill>
              <a:srgbClr val="FEF3C7"/>
            </a:solidFill>
            <a:ln w="28575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7256" y="5046164"/>
            <a:ext cx="16473488" cy="842962"/>
            <a:chOff x="0" y="0"/>
            <a:chExt cx="21964650" cy="1123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46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2196465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21809583" y="0"/>
                  </a:lnTo>
                  <a:cubicBezTo>
                    <a:pt x="21895181" y="0"/>
                    <a:pt x="21964650" y="69469"/>
                    <a:pt x="21964650" y="155067"/>
                  </a:cubicBezTo>
                  <a:lnTo>
                    <a:pt x="21964650" y="968883"/>
                  </a:lnTo>
                  <a:cubicBezTo>
                    <a:pt x="21964650" y="1054481"/>
                    <a:pt x="21895181" y="1123950"/>
                    <a:pt x="2180958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7256" y="6046289"/>
            <a:ext cx="16473488" cy="842962"/>
            <a:chOff x="0" y="0"/>
            <a:chExt cx="21964650" cy="1123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46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2196465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21809583" y="0"/>
                  </a:lnTo>
                  <a:cubicBezTo>
                    <a:pt x="21895181" y="0"/>
                    <a:pt x="21964650" y="69469"/>
                    <a:pt x="21964650" y="155067"/>
                  </a:cubicBezTo>
                  <a:lnTo>
                    <a:pt x="21964650" y="968883"/>
                  </a:lnTo>
                  <a:cubicBezTo>
                    <a:pt x="21964650" y="1054481"/>
                    <a:pt x="21895181" y="1123950"/>
                    <a:pt x="2180958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07256" y="7046414"/>
            <a:ext cx="16473488" cy="842962"/>
            <a:chOff x="0" y="0"/>
            <a:chExt cx="21964650" cy="11239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46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2196465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21809583" y="0"/>
                  </a:lnTo>
                  <a:cubicBezTo>
                    <a:pt x="21895181" y="0"/>
                    <a:pt x="21964650" y="69469"/>
                    <a:pt x="21964650" y="155067"/>
                  </a:cubicBezTo>
                  <a:lnTo>
                    <a:pt x="21964650" y="968883"/>
                  </a:lnTo>
                  <a:cubicBezTo>
                    <a:pt x="21964650" y="1054481"/>
                    <a:pt x="21895181" y="1123950"/>
                    <a:pt x="2180958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1F5F9"/>
            </a:solidFill>
            <a:ln w="14288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930438" y="3195933"/>
            <a:ext cx="2071688" cy="371475"/>
            <a:chOff x="0" y="0"/>
            <a:chExt cx="2762250" cy="495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2250" cy="495300"/>
            </a:xfrm>
            <a:custGeom>
              <a:avLst/>
              <a:gdLst/>
              <a:ahLst/>
              <a:cxnLst/>
              <a:rect r="r" b="b" t="t" l="l"/>
              <a:pathLst>
                <a:path h="495300" w="2762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686050" y="0"/>
                  </a:lnTo>
                  <a:cubicBezTo>
                    <a:pt x="2728087" y="0"/>
                    <a:pt x="2762250" y="34163"/>
                    <a:pt x="2762250" y="76200"/>
                  </a:cubicBezTo>
                  <a:lnTo>
                    <a:pt x="2762250" y="419100"/>
                  </a:lnTo>
                  <a:cubicBezTo>
                    <a:pt x="2762250" y="461137"/>
                    <a:pt x="2728087" y="495300"/>
                    <a:pt x="2686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859000" y="4253208"/>
            <a:ext cx="2143125" cy="371475"/>
            <a:chOff x="0" y="0"/>
            <a:chExt cx="2857500" cy="495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57500" cy="495300"/>
            </a:xfrm>
            <a:custGeom>
              <a:avLst/>
              <a:gdLst/>
              <a:ahLst/>
              <a:cxnLst/>
              <a:rect r="r" b="b" t="t" l="l"/>
              <a:pathLst>
                <a:path h="495300" w="28575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781300" y="0"/>
                  </a:lnTo>
                  <a:cubicBezTo>
                    <a:pt x="2823337" y="0"/>
                    <a:pt x="2857500" y="34163"/>
                    <a:pt x="2857500" y="76200"/>
                  </a:cubicBezTo>
                  <a:lnTo>
                    <a:pt x="2857500" y="419100"/>
                  </a:lnTo>
                  <a:cubicBezTo>
                    <a:pt x="2857500" y="461137"/>
                    <a:pt x="2823337" y="495300"/>
                    <a:pt x="27813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CODE STRUCTURE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Clean Architecture Boundary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Every deliberate vulnerability lives in adapters. That's where untrusted input arrives.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7300" y="5272383"/>
            <a:ext cx="159162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usecases/ </a:t>
            </a: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serve_prediction workflow logic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7300" y="6272508"/>
            <a:ext cx="159162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services/ </a:t>
            </a: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preprocessing, model inference, attack math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300" y="7272633"/>
            <a:ext cx="159162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domain/ </a:t>
            </a: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SmallCNN definition, CLASSES, core entities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" y="3200695"/>
            <a:ext cx="76152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interfaces/ </a:t>
            </a: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FastAPI entry points, detector main, alerts API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73312" y="3243558"/>
            <a:ext cx="19288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UNTRUSTED ENTRY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" y="4257970"/>
            <a:ext cx="77152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adapters/ </a:t>
            </a: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HTTP, auth, rate limiters, validators, detector rules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01875" y="4300833"/>
            <a:ext cx="2000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DELIBERATE VULNS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77383" y="1829095"/>
            <a:ext cx="5362499" cy="1714500"/>
            <a:chOff x="0" y="0"/>
            <a:chExt cx="7149998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49973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49973">
                  <a:moveTo>
                    <a:pt x="0" y="193675"/>
                  </a:moveTo>
                  <a:cubicBezTo>
                    <a:pt x="0" y="86741"/>
                    <a:pt x="86741" y="0"/>
                    <a:pt x="193675" y="0"/>
                  </a:cubicBezTo>
                  <a:lnTo>
                    <a:pt x="6956298" y="0"/>
                  </a:lnTo>
                  <a:cubicBezTo>
                    <a:pt x="7063232" y="0"/>
                    <a:pt x="7149973" y="86741"/>
                    <a:pt x="7149973" y="193675"/>
                  </a:cubicBezTo>
                  <a:lnTo>
                    <a:pt x="7149973" y="2092325"/>
                  </a:lnTo>
                  <a:cubicBezTo>
                    <a:pt x="7149973" y="2199259"/>
                    <a:pt x="7063232" y="2286000"/>
                    <a:pt x="6956298" y="2286000"/>
                  </a:cubicBezTo>
                  <a:lnTo>
                    <a:pt x="193675" y="2286000"/>
                  </a:lnTo>
                  <a:cubicBezTo>
                    <a:pt x="86741" y="2286000"/>
                    <a:pt x="0" y="2199259"/>
                    <a:pt x="0" y="2092325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462636" y="3810295"/>
            <a:ext cx="5362499" cy="1714500"/>
            <a:chOff x="0" y="0"/>
            <a:chExt cx="7149998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9973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49973">
                  <a:moveTo>
                    <a:pt x="0" y="193675"/>
                  </a:moveTo>
                  <a:cubicBezTo>
                    <a:pt x="0" y="86741"/>
                    <a:pt x="86741" y="0"/>
                    <a:pt x="193675" y="0"/>
                  </a:cubicBezTo>
                  <a:lnTo>
                    <a:pt x="6956298" y="0"/>
                  </a:lnTo>
                  <a:cubicBezTo>
                    <a:pt x="7063232" y="0"/>
                    <a:pt x="7149973" y="86741"/>
                    <a:pt x="7149973" y="193675"/>
                  </a:cubicBezTo>
                  <a:lnTo>
                    <a:pt x="7149973" y="2092325"/>
                  </a:lnTo>
                  <a:cubicBezTo>
                    <a:pt x="7149973" y="2199259"/>
                    <a:pt x="7063232" y="2286000"/>
                    <a:pt x="6956298" y="2286000"/>
                  </a:cubicBezTo>
                  <a:lnTo>
                    <a:pt x="193675" y="2286000"/>
                  </a:lnTo>
                  <a:cubicBezTo>
                    <a:pt x="86741" y="2286000"/>
                    <a:pt x="0" y="2199259"/>
                    <a:pt x="0" y="2092325"/>
                  </a:cubicBezTo>
                  <a:close/>
                </a:path>
              </a:pathLst>
            </a:custGeom>
            <a:solidFill>
              <a:srgbClr val="D1E7DD"/>
            </a:solidFill>
            <a:ln w="28575" cap="sq">
              <a:solidFill>
                <a:srgbClr val="0F51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25160" y="3810295"/>
            <a:ext cx="5362499" cy="1714500"/>
            <a:chOff x="0" y="0"/>
            <a:chExt cx="7149998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49973" cy="2286000"/>
            </a:xfrm>
            <a:custGeom>
              <a:avLst/>
              <a:gdLst/>
              <a:ahLst/>
              <a:cxnLst/>
              <a:rect r="r" b="b" t="t" l="l"/>
              <a:pathLst>
                <a:path h="2286000" w="7149973">
                  <a:moveTo>
                    <a:pt x="0" y="193675"/>
                  </a:moveTo>
                  <a:cubicBezTo>
                    <a:pt x="0" y="86741"/>
                    <a:pt x="86741" y="0"/>
                    <a:pt x="193675" y="0"/>
                  </a:cubicBezTo>
                  <a:lnTo>
                    <a:pt x="6956298" y="0"/>
                  </a:lnTo>
                  <a:cubicBezTo>
                    <a:pt x="7063232" y="0"/>
                    <a:pt x="7149973" y="86741"/>
                    <a:pt x="7149973" y="193675"/>
                  </a:cubicBezTo>
                  <a:lnTo>
                    <a:pt x="7149973" y="2092325"/>
                  </a:lnTo>
                  <a:cubicBezTo>
                    <a:pt x="7149973" y="2199259"/>
                    <a:pt x="7063232" y="2286000"/>
                    <a:pt x="6956298" y="2286000"/>
                  </a:cubicBezTo>
                  <a:lnTo>
                    <a:pt x="193675" y="2286000"/>
                  </a:lnTo>
                  <a:cubicBezTo>
                    <a:pt x="86741" y="2286000"/>
                    <a:pt x="0" y="2199259"/>
                    <a:pt x="0" y="2092325"/>
                  </a:cubicBezTo>
                  <a:close/>
                </a:path>
              </a:pathLst>
            </a:custGeom>
            <a:solidFill>
              <a:srgbClr val="E0F2FE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763799" y="7215483"/>
            <a:ext cx="8129588" cy="1214438"/>
            <a:chOff x="0" y="0"/>
            <a:chExt cx="10839450" cy="1619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39450" cy="1619250"/>
            </a:xfrm>
            <a:custGeom>
              <a:avLst/>
              <a:gdLst/>
              <a:ahLst/>
              <a:cxnLst/>
              <a:rect r="r" b="b" t="t" l="l"/>
              <a:pathLst>
                <a:path h="1619250" w="10839450">
                  <a:moveTo>
                    <a:pt x="0" y="192786"/>
                  </a:moveTo>
                  <a:cubicBezTo>
                    <a:pt x="0" y="86360"/>
                    <a:pt x="86360" y="0"/>
                    <a:pt x="192786" y="0"/>
                  </a:cubicBezTo>
                  <a:lnTo>
                    <a:pt x="10646664" y="0"/>
                  </a:lnTo>
                  <a:cubicBezTo>
                    <a:pt x="10753090" y="0"/>
                    <a:pt x="10839450" y="86360"/>
                    <a:pt x="10839450" y="192786"/>
                  </a:cubicBezTo>
                  <a:lnTo>
                    <a:pt x="10839450" y="1426464"/>
                  </a:lnTo>
                  <a:cubicBezTo>
                    <a:pt x="10839450" y="1532890"/>
                    <a:pt x="10753090" y="1619250"/>
                    <a:pt x="10646664" y="1619250"/>
                  </a:cubicBezTo>
                  <a:lnTo>
                    <a:pt x="192786" y="1619250"/>
                  </a:lnTo>
                  <a:cubicBezTo>
                    <a:pt x="86360" y="1619250"/>
                    <a:pt x="0" y="1532890"/>
                    <a:pt x="0" y="142646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756884" y="5791495"/>
            <a:ext cx="8129588" cy="1214438"/>
            <a:chOff x="0" y="0"/>
            <a:chExt cx="10839450" cy="1619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39450" cy="1619250"/>
            </a:xfrm>
            <a:custGeom>
              <a:avLst/>
              <a:gdLst/>
              <a:ahLst/>
              <a:cxnLst/>
              <a:rect r="r" b="b" t="t" l="l"/>
              <a:pathLst>
                <a:path h="1619250" w="10839450">
                  <a:moveTo>
                    <a:pt x="0" y="192786"/>
                  </a:moveTo>
                  <a:cubicBezTo>
                    <a:pt x="0" y="86360"/>
                    <a:pt x="86360" y="0"/>
                    <a:pt x="192786" y="0"/>
                  </a:cubicBezTo>
                  <a:lnTo>
                    <a:pt x="10646664" y="0"/>
                  </a:lnTo>
                  <a:cubicBezTo>
                    <a:pt x="10753090" y="0"/>
                    <a:pt x="10839450" y="86360"/>
                    <a:pt x="10839450" y="192786"/>
                  </a:cubicBezTo>
                  <a:lnTo>
                    <a:pt x="10839450" y="1426464"/>
                  </a:lnTo>
                  <a:cubicBezTo>
                    <a:pt x="10839450" y="1532890"/>
                    <a:pt x="10753090" y="1619250"/>
                    <a:pt x="10646664" y="1619250"/>
                  </a:cubicBezTo>
                  <a:lnTo>
                    <a:pt x="192786" y="1619250"/>
                  </a:lnTo>
                  <a:cubicBezTo>
                    <a:pt x="86360" y="1619250"/>
                    <a:pt x="0" y="1532890"/>
                    <a:pt x="0" y="142646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471655" y="7636964"/>
            <a:ext cx="2114550" cy="371475"/>
            <a:chOff x="0" y="0"/>
            <a:chExt cx="2819400" cy="495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9400" cy="495300"/>
            </a:xfrm>
            <a:custGeom>
              <a:avLst/>
              <a:gdLst/>
              <a:ahLst/>
              <a:cxnLst/>
              <a:rect r="r" b="b" t="t" l="l"/>
              <a:pathLst>
                <a:path h="495300" w="2819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743200" y="0"/>
                  </a:lnTo>
                  <a:cubicBezTo>
                    <a:pt x="2785237" y="0"/>
                    <a:pt x="2819400" y="34163"/>
                    <a:pt x="2819400" y="76200"/>
                  </a:cubicBezTo>
                  <a:lnTo>
                    <a:pt x="2819400" y="419100"/>
                  </a:lnTo>
                  <a:cubicBezTo>
                    <a:pt x="2819400" y="461137"/>
                    <a:pt x="2785237" y="495300"/>
                    <a:pt x="27432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50440" y="6212977"/>
            <a:ext cx="2228850" cy="371475"/>
            <a:chOff x="0" y="0"/>
            <a:chExt cx="2971800" cy="495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71800" cy="495300"/>
            </a:xfrm>
            <a:custGeom>
              <a:avLst/>
              <a:gdLst/>
              <a:ahLst/>
              <a:cxnLst/>
              <a:rect r="r" b="b" t="t" l="l"/>
              <a:pathLst>
                <a:path h="495300" w="29718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895600" y="0"/>
                  </a:lnTo>
                  <a:cubicBezTo>
                    <a:pt x="2937637" y="0"/>
                    <a:pt x="2971800" y="34163"/>
                    <a:pt x="2971800" y="76200"/>
                  </a:cubicBezTo>
                  <a:lnTo>
                    <a:pt x="2971800" y="419100"/>
                  </a:lnTo>
                  <a:cubicBezTo>
                    <a:pt x="2971800" y="461137"/>
                    <a:pt x="2937637" y="495300"/>
                    <a:pt x="28956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33525" y="1834382"/>
            <a:ext cx="3395586" cy="6717211"/>
          </a:xfrm>
          <a:custGeom>
            <a:avLst/>
            <a:gdLst/>
            <a:ahLst/>
            <a:cxnLst/>
            <a:rect r="r" b="b" t="t" l="l"/>
            <a:pathLst>
              <a:path h="6717211" w="3395586">
                <a:moveTo>
                  <a:pt x="0" y="0"/>
                </a:moveTo>
                <a:lnTo>
                  <a:pt x="3395586" y="0"/>
                </a:lnTo>
                <a:lnTo>
                  <a:pt x="3395586" y="6717211"/>
                </a:lnTo>
                <a:lnTo>
                  <a:pt x="0" y="671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24" r="-7801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DEPLOYMENT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Container Topology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Only two containers expose ports. Detector has zero network exposure.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05995" y="2157708"/>
            <a:ext cx="588159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api-vuln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05995" y="2505370"/>
            <a:ext cx="588159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Port :8000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05995" y="2948283"/>
            <a:ext cx="58815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Unrestricted inference endpoint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91249" y="4138908"/>
            <a:ext cx="588159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api-hardened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91249" y="4486570"/>
            <a:ext cx="588159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Port :8001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91249" y="4929483"/>
            <a:ext cx="58815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Hardened inference endpoint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53773" y="4138908"/>
            <a:ext cx="588159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284C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alerts-api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3773" y="4486570"/>
            <a:ext cx="588159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Port :8002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53773" y="4929483"/>
            <a:ext cx="58815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Read-only alert viewer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14530" y="7684589"/>
            <a:ext cx="19716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NO EXPOSED 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93315" y="6260602"/>
            <a:ext cx="20859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READ-ONLY MOUNT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0980" y="7522664"/>
            <a:ext cx="3893344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detector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0980" y="7803652"/>
            <a:ext cx="3893344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Internal background process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64065" y="6098677"/>
            <a:ext cx="3393281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telegram-notifier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64065" y="6379664"/>
            <a:ext cx="339328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Outbound polling worker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760414"/>
            <a:ext cx="8229600" cy="14288"/>
            <a:chOff x="0" y="0"/>
            <a:chExt cx="109728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4760414"/>
            <a:ext cx="8229600" cy="14288"/>
            <a:chOff x="0" y="0"/>
            <a:chExt cx="109728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446214"/>
            <a:ext cx="8229600" cy="14288"/>
            <a:chOff x="0" y="0"/>
            <a:chExt cx="109728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5446214"/>
            <a:ext cx="8229600" cy="14288"/>
            <a:chOff x="0" y="0"/>
            <a:chExt cx="109728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132014"/>
            <a:ext cx="8229600" cy="14288"/>
            <a:chOff x="0" y="0"/>
            <a:chExt cx="109728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0" y="6132014"/>
            <a:ext cx="8229600" cy="14288"/>
            <a:chOff x="0" y="0"/>
            <a:chExt cx="10972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6817814"/>
            <a:ext cx="8229600" cy="14288"/>
            <a:chOff x="0" y="0"/>
            <a:chExt cx="109728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6817814"/>
            <a:ext cx="8229600" cy="14288"/>
            <a:chOff x="0" y="0"/>
            <a:chExt cx="109728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7503614"/>
            <a:ext cx="8229600" cy="14288"/>
            <a:chOff x="0" y="0"/>
            <a:chExt cx="10972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0" y="7503614"/>
            <a:ext cx="8229600" cy="14288"/>
            <a:chOff x="0" y="0"/>
            <a:chExt cx="109728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8189414"/>
            <a:ext cx="8229600" cy="14288"/>
            <a:chOff x="0" y="0"/>
            <a:chExt cx="1097280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0" y="8189414"/>
            <a:ext cx="8229600" cy="14288"/>
            <a:chOff x="0" y="0"/>
            <a:chExt cx="109728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19050"/>
            </a:xfrm>
            <a:custGeom>
              <a:avLst/>
              <a:gdLst/>
              <a:ahLst/>
              <a:cxnLst/>
              <a:rect r="r" b="b" t="t" l="l"/>
              <a:pathLst>
                <a:path h="190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914400" y="3453110"/>
          <a:ext cx="16459200" cy="466725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VULNERABLE MODE (:8000)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HARDENED MODE (:8001)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Full softmax vector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returned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Top-1 class + rounded confidence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Verbose error traces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exposed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Generic error messages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 rate limiting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20 req / 60 s / IP cap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Authentication optional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x-api-key header required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/docs auto-generated</a:t>
                      </a: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exposed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Docs disabled entirely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Container runs as root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Container runs as non-root appuser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COMPARISON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Vulnerable vs Hardened Endpoint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0112" y="3796008"/>
            <a:ext cx="8029575" cy="3957638"/>
            <a:chOff x="0" y="0"/>
            <a:chExt cx="10706100" cy="5276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6100" cy="5276850"/>
            </a:xfrm>
            <a:custGeom>
              <a:avLst/>
              <a:gdLst/>
              <a:ahLst/>
              <a:cxnLst/>
              <a:rect r="r" b="b" t="t" l="l"/>
              <a:pathLst>
                <a:path h="5276850" w="1070610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10475849" y="0"/>
                  </a:lnTo>
                  <a:cubicBezTo>
                    <a:pt x="10602976" y="0"/>
                    <a:pt x="10706100" y="103124"/>
                    <a:pt x="10706100" y="230251"/>
                  </a:cubicBezTo>
                  <a:lnTo>
                    <a:pt x="10706100" y="5046599"/>
                  </a:lnTo>
                  <a:cubicBezTo>
                    <a:pt x="10706100" y="5173726"/>
                    <a:pt x="10602976" y="5276850"/>
                    <a:pt x="10475849" y="5276850"/>
                  </a:cubicBezTo>
                  <a:lnTo>
                    <a:pt x="230251" y="5276850"/>
                  </a:lnTo>
                  <a:cubicBezTo>
                    <a:pt x="103124" y="5276850"/>
                    <a:pt x="0" y="5173726"/>
                    <a:pt x="0" y="5046599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58312" y="4046039"/>
            <a:ext cx="8029575" cy="3457575"/>
            <a:chOff x="0" y="0"/>
            <a:chExt cx="10706100" cy="4610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61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10706100">
                  <a:moveTo>
                    <a:pt x="0" y="230505"/>
                  </a:moveTo>
                  <a:cubicBezTo>
                    <a:pt x="0" y="103251"/>
                    <a:pt x="103251" y="0"/>
                    <a:pt x="230505" y="0"/>
                  </a:cubicBezTo>
                  <a:lnTo>
                    <a:pt x="10475595" y="0"/>
                  </a:lnTo>
                  <a:cubicBezTo>
                    <a:pt x="10602849" y="0"/>
                    <a:pt x="10706100" y="103251"/>
                    <a:pt x="10706100" y="230505"/>
                  </a:cubicBezTo>
                  <a:lnTo>
                    <a:pt x="10706100" y="4379595"/>
                  </a:lnTo>
                  <a:cubicBezTo>
                    <a:pt x="10706100" y="4506849"/>
                    <a:pt x="10602849" y="4610100"/>
                    <a:pt x="10475595" y="4610100"/>
                  </a:cubicBezTo>
                  <a:lnTo>
                    <a:pt x="230505" y="4610100"/>
                  </a:lnTo>
                  <a:cubicBezTo>
                    <a:pt x="103251" y="4610100"/>
                    <a:pt x="0" y="4506849"/>
                    <a:pt x="0" y="4379595"/>
                  </a:cubicBezTo>
                  <a:close/>
                </a:path>
              </a:pathLst>
            </a:custGeom>
            <a:solidFill>
              <a:srgbClr val="F1F5F9"/>
            </a:solidFill>
            <a:ln w="28575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00175" y="4353220"/>
            <a:ext cx="314325" cy="314325"/>
            <a:chOff x="0" y="0"/>
            <a:chExt cx="419100" cy="4191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72" r="0" b="-227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58375" y="4603252"/>
            <a:ext cx="314325" cy="314325"/>
            <a:chOff x="0" y="0"/>
            <a:chExt cx="419100" cy="419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72" r="0" b="-227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ASSUMPTIONS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Adversary Capabilities &amp; Boundaries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9725" y="4286545"/>
            <a:ext cx="901660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ADVERSARY CAN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7925" y="4536577"/>
            <a:ext cx="82200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ADVERSARY CANNOT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0175" y="4915195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Submit arbitrary images to /predict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0175" y="5415258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Enumerate exposed API endpoints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0175" y="5915320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Attempt key guessing &amp; auth bypass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0175" y="6415383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Observe response timing &amp; metadata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0175" y="6915445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Send thousands of automated queries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8375" y="5165227"/>
            <a:ext cx="842962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Read model weight files directly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8375" y="5665289"/>
            <a:ext cx="842962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Access Docker socket or host 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58375" y="6165352"/>
            <a:ext cx="842962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Modify source code or config files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58375" y="6665414"/>
            <a:ext cx="842962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Inspect training dataset directly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29700" y="4417514"/>
            <a:ext cx="8343900" cy="2714625"/>
            <a:chOff x="0" y="0"/>
            <a:chExt cx="11125200" cy="3619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252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11125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896600" y="0"/>
                  </a:lnTo>
                  <a:cubicBezTo>
                    <a:pt x="11022838" y="0"/>
                    <a:pt x="11125200" y="102362"/>
                    <a:pt x="11125200" y="228600"/>
                  </a:cubicBezTo>
                  <a:lnTo>
                    <a:pt x="11125200" y="3390900"/>
                  </a:lnTo>
                  <a:cubicBezTo>
                    <a:pt x="11125200" y="3517138"/>
                    <a:pt x="11022838" y="3619500"/>
                    <a:pt x="10896600" y="3619500"/>
                  </a:cubicBezTo>
                  <a:lnTo>
                    <a:pt x="228600" y="3619500"/>
                  </a:lnTo>
                  <a:cubicBezTo>
                    <a:pt x="102362" y="3619500"/>
                    <a:pt x="0" y="3517138"/>
                    <a:pt x="0" y="33909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31752"/>
            <a:ext cx="7429500" cy="1200150"/>
            <a:chOff x="0" y="0"/>
            <a:chExt cx="9906000" cy="160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06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447800"/>
                  </a:lnTo>
                  <a:cubicBezTo>
                    <a:pt x="9906000" y="1532001"/>
                    <a:pt x="9837801" y="1600200"/>
                    <a:pt x="97536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517652"/>
            <a:ext cx="7429500" cy="1200150"/>
            <a:chOff x="0" y="0"/>
            <a:chExt cx="9906000" cy="1600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447800"/>
                  </a:lnTo>
                  <a:cubicBezTo>
                    <a:pt x="9906000" y="1532001"/>
                    <a:pt x="9837801" y="1600200"/>
                    <a:pt x="97536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003552"/>
            <a:ext cx="7429500" cy="1200150"/>
            <a:chOff x="0" y="0"/>
            <a:chExt cx="9906000" cy="160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906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753600" y="0"/>
                  </a:lnTo>
                  <a:cubicBezTo>
                    <a:pt x="9837801" y="0"/>
                    <a:pt x="9906000" y="68199"/>
                    <a:pt x="9906000" y="152400"/>
                  </a:cubicBezTo>
                  <a:lnTo>
                    <a:pt x="9906000" y="1447800"/>
                  </a:lnTo>
                  <a:cubicBezTo>
                    <a:pt x="9906000" y="1532001"/>
                    <a:pt x="9837801" y="1600200"/>
                    <a:pt x="97536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4031752"/>
            <a:ext cx="57150" cy="1200150"/>
            <a:chOff x="0" y="0"/>
            <a:chExt cx="76200" cy="1600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5517652"/>
            <a:ext cx="57150" cy="1200150"/>
            <a:chOff x="0" y="0"/>
            <a:chExt cx="76200" cy="160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7003552"/>
            <a:ext cx="57150" cy="1200150"/>
            <a:chOff x="0" y="0"/>
            <a:chExt cx="76200" cy="1600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44450" y="4874714"/>
            <a:ext cx="914400" cy="914400"/>
            <a:chOff x="0" y="0"/>
            <a:chExt cx="1219200" cy="12192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81" r="0" b="-78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AI VULNERABILITIES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Why AI is Different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3336427"/>
            <a:ext cx="9286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Three unique properties of AI models: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20903" y="6008189"/>
            <a:ext cx="616148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Traditional security audits source code.</a:t>
            </a:r>
          </a:p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AI security audits decision boundaries.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7300" y="4307977"/>
            <a:ext cx="850106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Non-Determinism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7300" y="4627064"/>
            <a:ext cx="850106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Identical prompts can yield variable output probabilities.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7300" y="5793877"/>
            <a:ext cx="850106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Continuous Gradients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300" y="6112964"/>
            <a:ext cx="850106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Tiny input perturbations produce massive classification shifts.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300" y="7279777"/>
            <a:ext cx="850106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Learned Behaviour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7300" y="7598864"/>
            <a:ext cx="850106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Logic resides in weights, not explicit source code conditionals.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29488" y="4088902"/>
            <a:ext cx="3629025" cy="971550"/>
            <a:chOff x="0" y="0"/>
            <a:chExt cx="4838700" cy="129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87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4838700">
                  <a:moveTo>
                    <a:pt x="0" y="647700"/>
                  </a:moveTo>
                  <a:cubicBezTo>
                    <a:pt x="0" y="289941"/>
                    <a:pt x="289941" y="0"/>
                    <a:pt x="647700" y="0"/>
                  </a:cubicBezTo>
                  <a:lnTo>
                    <a:pt x="4191000" y="0"/>
                  </a:lnTo>
                  <a:cubicBezTo>
                    <a:pt x="4548759" y="0"/>
                    <a:pt x="4838700" y="289941"/>
                    <a:pt x="4838700" y="647700"/>
                  </a:cubicBezTo>
                  <a:cubicBezTo>
                    <a:pt x="4838700" y="1005459"/>
                    <a:pt x="4548759" y="1295400"/>
                    <a:pt x="4191000" y="1295400"/>
                  </a:cubicBezTo>
                  <a:lnTo>
                    <a:pt x="647700" y="1295400"/>
                  </a:lnTo>
                  <a:cubicBezTo>
                    <a:pt x="289941" y="1295400"/>
                    <a:pt x="0" y="1005459"/>
                    <a:pt x="0" y="6477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7256" y="5510508"/>
            <a:ext cx="3077613" cy="1228725"/>
            <a:chOff x="0" y="0"/>
            <a:chExt cx="4103484" cy="1638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03497" cy="1638300"/>
            </a:xfrm>
            <a:custGeom>
              <a:avLst/>
              <a:gdLst/>
              <a:ahLst/>
              <a:cxnLst/>
              <a:rect r="r" b="b" t="t" l="l"/>
              <a:pathLst>
                <a:path h="1638300" w="4103497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3949319" y="0"/>
                  </a:lnTo>
                  <a:cubicBezTo>
                    <a:pt x="4034409" y="0"/>
                    <a:pt x="4103497" y="69088"/>
                    <a:pt x="4103497" y="154178"/>
                  </a:cubicBezTo>
                  <a:lnTo>
                    <a:pt x="4103497" y="1484122"/>
                  </a:lnTo>
                  <a:cubicBezTo>
                    <a:pt x="4103497" y="1569212"/>
                    <a:pt x="4034409" y="1638300"/>
                    <a:pt x="3949319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256332" y="5510508"/>
            <a:ext cx="3077613" cy="1228725"/>
            <a:chOff x="0" y="0"/>
            <a:chExt cx="4103484" cy="1638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03497" cy="1638300"/>
            </a:xfrm>
            <a:custGeom>
              <a:avLst/>
              <a:gdLst/>
              <a:ahLst/>
              <a:cxnLst/>
              <a:rect r="r" b="b" t="t" l="l"/>
              <a:pathLst>
                <a:path h="1638300" w="4103497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3949319" y="0"/>
                  </a:lnTo>
                  <a:cubicBezTo>
                    <a:pt x="4034409" y="0"/>
                    <a:pt x="4103497" y="69088"/>
                    <a:pt x="4103497" y="154178"/>
                  </a:cubicBezTo>
                  <a:lnTo>
                    <a:pt x="4103497" y="1484122"/>
                  </a:lnTo>
                  <a:cubicBezTo>
                    <a:pt x="4103497" y="1569212"/>
                    <a:pt x="4034409" y="1638300"/>
                    <a:pt x="3949319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605417" y="5510508"/>
            <a:ext cx="3077613" cy="1228725"/>
            <a:chOff x="0" y="0"/>
            <a:chExt cx="4103484" cy="1638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03497" cy="1638300"/>
            </a:xfrm>
            <a:custGeom>
              <a:avLst/>
              <a:gdLst/>
              <a:ahLst/>
              <a:cxnLst/>
              <a:rect r="r" b="b" t="t" l="l"/>
              <a:pathLst>
                <a:path h="1638300" w="4103497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3949319" y="0"/>
                  </a:lnTo>
                  <a:cubicBezTo>
                    <a:pt x="4034409" y="0"/>
                    <a:pt x="4103497" y="69088"/>
                    <a:pt x="4103497" y="154178"/>
                  </a:cubicBezTo>
                  <a:lnTo>
                    <a:pt x="4103497" y="1484122"/>
                  </a:lnTo>
                  <a:cubicBezTo>
                    <a:pt x="4103497" y="1569212"/>
                    <a:pt x="4034409" y="1638300"/>
                    <a:pt x="3949319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F3C7"/>
            </a:solidFill>
            <a:ln w="14288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54493" y="5510508"/>
            <a:ext cx="3077613" cy="1228725"/>
            <a:chOff x="0" y="0"/>
            <a:chExt cx="4103484" cy="1638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03497" cy="1638300"/>
            </a:xfrm>
            <a:custGeom>
              <a:avLst/>
              <a:gdLst/>
              <a:ahLst/>
              <a:cxnLst/>
              <a:rect r="r" b="b" t="t" l="l"/>
              <a:pathLst>
                <a:path h="1638300" w="4103497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3949319" y="0"/>
                  </a:lnTo>
                  <a:cubicBezTo>
                    <a:pt x="4034409" y="0"/>
                    <a:pt x="4103497" y="69088"/>
                    <a:pt x="4103497" y="154178"/>
                  </a:cubicBezTo>
                  <a:lnTo>
                    <a:pt x="4103497" y="1484122"/>
                  </a:lnTo>
                  <a:cubicBezTo>
                    <a:pt x="4103497" y="1569212"/>
                    <a:pt x="4034409" y="1638300"/>
                    <a:pt x="3949319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303569" y="5510508"/>
            <a:ext cx="3077613" cy="1228725"/>
            <a:chOff x="0" y="0"/>
            <a:chExt cx="4103484" cy="1638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03497" cy="1638300"/>
            </a:xfrm>
            <a:custGeom>
              <a:avLst/>
              <a:gdLst/>
              <a:ahLst/>
              <a:cxnLst/>
              <a:rect r="r" b="b" t="t" l="l"/>
              <a:pathLst>
                <a:path h="1638300" w="4103497">
                  <a:moveTo>
                    <a:pt x="0" y="154178"/>
                  </a:moveTo>
                  <a:cubicBezTo>
                    <a:pt x="0" y="69088"/>
                    <a:pt x="69088" y="0"/>
                    <a:pt x="154178" y="0"/>
                  </a:cubicBezTo>
                  <a:lnTo>
                    <a:pt x="3949319" y="0"/>
                  </a:lnTo>
                  <a:cubicBezTo>
                    <a:pt x="4034409" y="0"/>
                    <a:pt x="4103497" y="69088"/>
                    <a:pt x="4103497" y="154178"/>
                  </a:cubicBezTo>
                  <a:lnTo>
                    <a:pt x="4103497" y="1484122"/>
                  </a:lnTo>
                  <a:cubicBezTo>
                    <a:pt x="4103497" y="1569212"/>
                    <a:pt x="4034409" y="1638300"/>
                    <a:pt x="3949319" y="1638300"/>
                  </a:cubicBezTo>
                  <a:lnTo>
                    <a:pt x="154178" y="1638300"/>
                  </a:lnTo>
                  <a:cubicBezTo>
                    <a:pt x="69088" y="1638300"/>
                    <a:pt x="0" y="1569212"/>
                    <a:pt x="0" y="1484122"/>
                  </a:cubicBezTo>
                  <a:close/>
                </a:path>
              </a:pathLst>
            </a:custGeom>
            <a:solidFill>
              <a:srgbClr val="FEE2E2"/>
            </a:solidFill>
            <a:ln w="14288" cap="sq">
              <a:solidFill>
                <a:srgbClr val="FCA5A5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ATTACK SURFACE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 Surface of an AI Pipeline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Every surface requires a distinct control. Weaknesses found across inputs, metadata, and API.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00988" y="4365127"/>
            <a:ext cx="26289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MODEL 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6532" y="5817689"/>
            <a:ext cx="30790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INPUTS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6532" y="6112964"/>
            <a:ext cx="307907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Evasion &amp; MIA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55608" y="5817689"/>
            <a:ext cx="30790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WEIGHTS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55608" y="6112964"/>
            <a:ext cx="307907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Extraction &amp; Theft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04684" y="5817689"/>
            <a:ext cx="30790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B4530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LOGS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04684" y="6112964"/>
            <a:ext cx="307907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Tampering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53769" y="5817689"/>
            <a:ext cx="30790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METADATA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53769" y="6112964"/>
            <a:ext cx="307907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Arch Leaks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02845" y="5817689"/>
            <a:ext cx="30790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API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02845" y="6112964"/>
            <a:ext cx="307907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Rate Limit Abuse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31977"/>
            <a:ext cx="6309274" cy="1357312"/>
            <a:chOff x="0" y="0"/>
            <a:chExt cx="8412366" cy="1809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353" cy="1809750"/>
            </a:xfrm>
            <a:custGeom>
              <a:avLst/>
              <a:gdLst/>
              <a:ahLst/>
              <a:cxnLst/>
              <a:rect r="r" b="b" t="t" l="l"/>
              <a:pathLst>
                <a:path h="1809750" w="841235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259953" y="0"/>
                  </a:lnTo>
                  <a:cubicBezTo>
                    <a:pt x="8344154" y="0"/>
                    <a:pt x="8412353" y="68199"/>
                    <a:pt x="8412353" y="152400"/>
                  </a:cubicBezTo>
                  <a:lnTo>
                    <a:pt x="8412353" y="1657350"/>
                  </a:lnTo>
                  <a:cubicBezTo>
                    <a:pt x="8412353" y="1741551"/>
                    <a:pt x="8344154" y="1809750"/>
                    <a:pt x="8259953" y="1809750"/>
                  </a:cubicBezTo>
                  <a:lnTo>
                    <a:pt x="152400" y="1809750"/>
                  </a:lnTo>
                  <a:cubicBezTo>
                    <a:pt x="68199" y="1809750"/>
                    <a:pt x="0" y="1741551"/>
                    <a:pt x="0" y="165735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95187" y="5060452"/>
            <a:ext cx="2785167" cy="1428750"/>
            <a:chOff x="0" y="0"/>
            <a:chExt cx="3713556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1348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71348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558032" y="0"/>
                  </a:lnTo>
                  <a:cubicBezTo>
                    <a:pt x="3643884" y="0"/>
                    <a:pt x="3713480" y="69596"/>
                    <a:pt x="3713480" y="155448"/>
                  </a:cubicBezTo>
                  <a:lnTo>
                    <a:pt x="3713480" y="1749552"/>
                  </a:lnTo>
                  <a:cubicBezTo>
                    <a:pt x="3713480" y="1835404"/>
                    <a:pt x="3643884" y="1905000"/>
                    <a:pt x="3558032" y="1905000"/>
                  </a:cubicBezTo>
                  <a:lnTo>
                    <a:pt x="155448" y="1905000"/>
                  </a:lnTo>
                  <a:cubicBezTo>
                    <a:pt x="69596" y="1905000"/>
                    <a:pt x="0" y="1835404"/>
                    <a:pt x="0" y="1749552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416160" y="5246189"/>
            <a:ext cx="1985962" cy="1057275"/>
            <a:chOff x="0" y="0"/>
            <a:chExt cx="2647950" cy="1409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47950" cy="1409700"/>
            </a:xfrm>
            <a:custGeom>
              <a:avLst/>
              <a:gdLst/>
              <a:ahLst/>
              <a:cxnLst/>
              <a:rect r="r" b="b" t="t" l="l"/>
              <a:pathLst>
                <a:path h="1409700" w="2647950">
                  <a:moveTo>
                    <a:pt x="0" y="154432"/>
                  </a:moveTo>
                  <a:cubicBezTo>
                    <a:pt x="0" y="69215"/>
                    <a:pt x="69215" y="0"/>
                    <a:pt x="154432" y="0"/>
                  </a:cubicBezTo>
                  <a:lnTo>
                    <a:pt x="2493518" y="0"/>
                  </a:lnTo>
                  <a:cubicBezTo>
                    <a:pt x="2578862" y="0"/>
                    <a:pt x="2647950" y="69215"/>
                    <a:pt x="2647950" y="154432"/>
                  </a:cubicBezTo>
                  <a:lnTo>
                    <a:pt x="2647950" y="1255268"/>
                  </a:lnTo>
                  <a:cubicBezTo>
                    <a:pt x="2647950" y="1340612"/>
                    <a:pt x="2578735" y="1409700"/>
                    <a:pt x="2493518" y="1409700"/>
                  </a:cubicBezTo>
                  <a:lnTo>
                    <a:pt x="154432" y="1409700"/>
                  </a:lnTo>
                  <a:cubicBezTo>
                    <a:pt x="69215" y="1409700"/>
                    <a:pt x="0" y="1340485"/>
                    <a:pt x="0" y="125526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137929" y="5060452"/>
            <a:ext cx="3249959" cy="1428750"/>
            <a:chOff x="0" y="0"/>
            <a:chExt cx="4333278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3324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33324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4177792" y="0"/>
                  </a:lnTo>
                  <a:cubicBezTo>
                    <a:pt x="4263644" y="0"/>
                    <a:pt x="4333240" y="69596"/>
                    <a:pt x="4333240" y="155448"/>
                  </a:cubicBezTo>
                  <a:lnTo>
                    <a:pt x="4333240" y="1749552"/>
                  </a:lnTo>
                  <a:cubicBezTo>
                    <a:pt x="4333240" y="1835404"/>
                    <a:pt x="4263644" y="1905000"/>
                    <a:pt x="4177792" y="1905000"/>
                  </a:cubicBezTo>
                  <a:lnTo>
                    <a:pt x="155448" y="1905000"/>
                  </a:lnTo>
                  <a:cubicBezTo>
                    <a:pt x="69596" y="1905000"/>
                    <a:pt x="0" y="1835404"/>
                    <a:pt x="0" y="1749552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831977"/>
            <a:ext cx="57150" cy="1357312"/>
            <a:chOff x="0" y="0"/>
            <a:chExt cx="76200" cy="1809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809750"/>
            </a:xfrm>
            <a:custGeom>
              <a:avLst/>
              <a:gdLst/>
              <a:ahLst/>
              <a:cxnLst/>
              <a:rect r="r" b="b" t="t" l="l"/>
              <a:pathLst>
                <a:path h="1809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94666" y="5603377"/>
            <a:ext cx="300038" cy="342900"/>
            <a:chOff x="0" y="0"/>
            <a:chExt cx="40005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5" t="0" r="-285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23579" y="5603377"/>
            <a:ext cx="300038" cy="342900"/>
            <a:chOff x="0" y="0"/>
            <a:chExt cx="400050" cy="457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5" t="0" r="-285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DATA VECTOR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Data as an Attack Vector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341314"/>
            <a:ext cx="788658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Training Data Integrity: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4936627"/>
            <a:ext cx="645214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Influencing training data directly manipulates model decisions (Data Poisoning).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150" y="6041527"/>
            <a:ext cx="5937799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Scope Note: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Training pipeline was offline during testing. Data poisoning is documented as a limitation.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9242" y="5436689"/>
            <a:ext cx="251705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Poisoned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66179" y="5600995"/>
            <a:ext cx="168592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Training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13881" y="5436689"/>
            <a:ext cx="309804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Backdoored Model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36319" y="7932239"/>
            <a:ext cx="3171825" cy="671512"/>
            <a:chOff x="0" y="0"/>
            <a:chExt cx="4229100" cy="895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9100" cy="895350"/>
            </a:xfrm>
            <a:custGeom>
              <a:avLst/>
              <a:gdLst/>
              <a:ahLst/>
              <a:cxnLst/>
              <a:rect r="r" b="b" t="t" l="l"/>
              <a:pathLst>
                <a:path h="895350" w="42291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076700" y="0"/>
                  </a:lnTo>
                  <a:cubicBezTo>
                    <a:pt x="4160901" y="0"/>
                    <a:pt x="4229100" y="68199"/>
                    <a:pt x="4229100" y="152400"/>
                  </a:cubicBezTo>
                  <a:lnTo>
                    <a:pt x="4229100" y="742950"/>
                  </a:lnTo>
                  <a:cubicBezTo>
                    <a:pt x="4229100" y="827151"/>
                    <a:pt x="4160901" y="895350"/>
                    <a:pt x="4076700" y="895350"/>
                  </a:cubicBezTo>
                  <a:lnTo>
                    <a:pt x="152400" y="895350"/>
                  </a:lnTo>
                  <a:cubicBezTo>
                    <a:pt x="68199" y="895350"/>
                    <a:pt x="0" y="827151"/>
                    <a:pt x="0" y="74295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4019" y="7932239"/>
            <a:ext cx="4157662" cy="671512"/>
            <a:chOff x="0" y="0"/>
            <a:chExt cx="5543550" cy="895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43550" cy="895350"/>
            </a:xfrm>
            <a:custGeom>
              <a:avLst/>
              <a:gdLst/>
              <a:ahLst/>
              <a:cxnLst/>
              <a:rect r="r" b="b" t="t" l="l"/>
              <a:pathLst>
                <a:path h="895350" w="55435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391150" y="0"/>
                  </a:lnTo>
                  <a:cubicBezTo>
                    <a:pt x="5475351" y="0"/>
                    <a:pt x="5543550" y="68199"/>
                    <a:pt x="5543550" y="152400"/>
                  </a:cubicBezTo>
                  <a:lnTo>
                    <a:pt x="5543550" y="742950"/>
                  </a:lnTo>
                  <a:cubicBezTo>
                    <a:pt x="5543550" y="827151"/>
                    <a:pt x="5475351" y="895350"/>
                    <a:pt x="5391150" y="895350"/>
                  </a:cubicBezTo>
                  <a:lnTo>
                    <a:pt x="152400" y="895350"/>
                  </a:lnTo>
                  <a:cubicBezTo>
                    <a:pt x="68199" y="895350"/>
                    <a:pt x="0" y="827151"/>
                    <a:pt x="0" y="74295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43525" y="2217239"/>
            <a:ext cx="7600950" cy="5429250"/>
            <a:chOff x="0" y="0"/>
            <a:chExt cx="10134600" cy="7239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1346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134600">
                  <a:moveTo>
                    <a:pt x="0" y="0"/>
                  </a:moveTo>
                  <a:lnTo>
                    <a:pt x="10134600" y="0"/>
                  </a:lnTo>
                  <a:lnTo>
                    <a:pt x="101346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1" r="0" b="-13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EVASION CONCEPT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Adversarial Examples — Visual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Same pixels to a human. Completely different pixels to the model.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68466" y="8094164"/>
            <a:ext cx="310753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Original: Cat (94%)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02931" y="8094164"/>
            <a:ext cx="433982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Adversarial: Airplane (87%)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25274" y="3888877"/>
            <a:ext cx="9855470" cy="3771900"/>
            <a:chOff x="0" y="0"/>
            <a:chExt cx="13140626" cy="502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40689" cy="5029200"/>
            </a:xfrm>
            <a:custGeom>
              <a:avLst/>
              <a:gdLst/>
              <a:ahLst/>
              <a:cxnLst/>
              <a:rect r="r" b="b" t="t" l="l"/>
              <a:pathLst>
                <a:path h="5029200" w="13140689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12911201" y="0"/>
                  </a:lnTo>
                  <a:cubicBezTo>
                    <a:pt x="13037947" y="0"/>
                    <a:pt x="13140689" y="102743"/>
                    <a:pt x="13140689" y="229489"/>
                  </a:cubicBezTo>
                  <a:lnTo>
                    <a:pt x="13140689" y="4799711"/>
                  </a:lnTo>
                  <a:cubicBezTo>
                    <a:pt x="13140689" y="4926457"/>
                    <a:pt x="13037947" y="5029200"/>
                    <a:pt x="12911201" y="5029200"/>
                  </a:cubicBezTo>
                  <a:lnTo>
                    <a:pt x="229489" y="5029200"/>
                  </a:lnTo>
                  <a:cubicBezTo>
                    <a:pt x="102743" y="5029200"/>
                    <a:pt x="0" y="4926457"/>
                    <a:pt x="0" y="479971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17414"/>
            <a:ext cx="3143250" cy="300038"/>
            <a:chOff x="0" y="0"/>
            <a:chExt cx="4191000" cy="400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474789"/>
            <a:ext cx="5932218" cy="1085850"/>
            <a:chOff x="0" y="0"/>
            <a:chExt cx="7909623" cy="144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0956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90956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57160" y="0"/>
                  </a:lnTo>
                  <a:cubicBezTo>
                    <a:pt x="7841361" y="0"/>
                    <a:pt x="7909560" y="68199"/>
                    <a:pt x="7909560" y="152400"/>
                  </a:cubicBezTo>
                  <a:lnTo>
                    <a:pt x="7909560" y="1295400"/>
                  </a:lnTo>
                  <a:cubicBezTo>
                    <a:pt x="7909560" y="1379601"/>
                    <a:pt x="7841361" y="1447800"/>
                    <a:pt x="7757160" y="1447800"/>
                  </a:cubicBezTo>
                  <a:lnTo>
                    <a:pt x="152400" y="1447800"/>
                  </a:lnTo>
                  <a:cubicBezTo>
                    <a:pt x="68199" y="1447800"/>
                    <a:pt x="0" y="1379601"/>
                    <a:pt x="0" y="12954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846389"/>
            <a:ext cx="5932218" cy="1085850"/>
            <a:chOff x="0" y="0"/>
            <a:chExt cx="7909623" cy="144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956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90956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57160" y="0"/>
                  </a:lnTo>
                  <a:cubicBezTo>
                    <a:pt x="7841361" y="0"/>
                    <a:pt x="7909560" y="68199"/>
                    <a:pt x="7909560" y="152400"/>
                  </a:cubicBezTo>
                  <a:lnTo>
                    <a:pt x="7909560" y="1295400"/>
                  </a:lnTo>
                  <a:cubicBezTo>
                    <a:pt x="7909560" y="1379601"/>
                    <a:pt x="7841361" y="1447800"/>
                    <a:pt x="7757160" y="1447800"/>
                  </a:cubicBezTo>
                  <a:lnTo>
                    <a:pt x="152400" y="1447800"/>
                  </a:lnTo>
                  <a:cubicBezTo>
                    <a:pt x="68199" y="1447800"/>
                    <a:pt x="0" y="1379601"/>
                    <a:pt x="0" y="12954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96761" y="4360364"/>
            <a:ext cx="8912495" cy="800100"/>
            <a:chOff x="0" y="0"/>
            <a:chExt cx="11883326" cy="106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3389" cy="1066800"/>
            </a:xfrm>
            <a:custGeom>
              <a:avLst/>
              <a:gdLst/>
              <a:ahLst/>
              <a:cxnLst/>
              <a:rect r="r" b="b" t="t" l="l"/>
              <a:pathLst>
                <a:path h="1066800" w="11883389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11728196" y="0"/>
                  </a:lnTo>
                  <a:cubicBezTo>
                    <a:pt x="11813921" y="0"/>
                    <a:pt x="11883389" y="69469"/>
                    <a:pt x="11883389" y="155194"/>
                  </a:cubicBezTo>
                  <a:lnTo>
                    <a:pt x="11883389" y="911606"/>
                  </a:lnTo>
                  <a:cubicBezTo>
                    <a:pt x="11883389" y="997331"/>
                    <a:pt x="11813921" y="1066800"/>
                    <a:pt x="11728196" y="1066800"/>
                  </a:cubicBezTo>
                  <a:lnTo>
                    <a:pt x="155194" y="1066800"/>
                  </a:lnTo>
                  <a:cubicBezTo>
                    <a:pt x="69469" y="1066800"/>
                    <a:pt x="0" y="997331"/>
                    <a:pt x="0" y="91160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996761" y="5374777"/>
            <a:ext cx="8912495" cy="800100"/>
            <a:chOff x="0" y="0"/>
            <a:chExt cx="11883326" cy="106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3389" cy="1066800"/>
            </a:xfrm>
            <a:custGeom>
              <a:avLst/>
              <a:gdLst/>
              <a:ahLst/>
              <a:cxnLst/>
              <a:rect r="r" b="b" t="t" l="l"/>
              <a:pathLst>
                <a:path h="1066800" w="11883389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11728196" y="0"/>
                  </a:lnTo>
                  <a:cubicBezTo>
                    <a:pt x="11813921" y="0"/>
                    <a:pt x="11883389" y="69469"/>
                    <a:pt x="11883389" y="155194"/>
                  </a:cubicBezTo>
                  <a:lnTo>
                    <a:pt x="11883389" y="911606"/>
                  </a:lnTo>
                  <a:cubicBezTo>
                    <a:pt x="11883389" y="997331"/>
                    <a:pt x="11813921" y="1066800"/>
                    <a:pt x="11728196" y="1066800"/>
                  </a:cubicBezTo>
                  <a:lnTo>
                    <a:pt x="155194" y="1066800"/>
                  </a:lnTo>
                  <a:cubicBezTo>
                    <a:pt x="69469" y="1066800"/>
                    <a:pt x="0" y="997331"/>
                    <a:pt x="0" y="91160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996761" y="6389189"/>
            <a:ext cx="8912495" cy="800100"/>
            <a:chOff x="0" y="0"/>
            <a:chExt cx="11883326" cy="106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83389" cy="1066800"/>
            </a:xfrm>
            <a:custGeom>
              <a:avLst/>
              <a:gdLst/>
              <a:ahLst/>
              <a:cxnLst/>
              <a:rect r="r" b="b" t="t" l="l"/>
              <a:pathLst>
                <a:path h="1066800" w="11883389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11728196" y="0"/>
                  </a:lnTo>
                  <a:cubicBezTo>
                    <a:pt x="11813921" y="0"/>
                    <a:pt x="11883389" y="69469"/>
                    <a:pt x="11883389" y="155194"/>
                  </a:cubicBezTo>
                  <a:lnTo>
                    <a:pt x="11883389" y="911606"/>
                  </a:lnTo>
                  <a:cubicBezTo>
                    <a:pt x="11883389" y="997331"/>
                    <a:pt x="11813921" y="1066800"/>
                    <a:pt x="11728196" y="1066800"/>
                  </a:cubicBezTo>
                  <a:lnTo>
                    <a:pt x="155194" y="1066800"/>
                  </a:lnTo>
                  <a:cubicBezTo>
                    <a:pt x="69469" y="1066800"/>
                    <a:pt x="0" y="997331"/>
                    <a:pt x="0" y="91160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5474789"/>
            <a:ext cx="57150" cy="1085850"/>
            <a:chOff x="0" y="0"/>
            <a:chExt cx="76200" cy="144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6846389"/>
            <a:ext cx="57150" cy="1085850"/>
            <a:chOff x="0" y="0"/>
            <a:chExt cx="76200" cy="1447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ATTACK MECHANICS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 1: Evasion Algorithms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3617414"/>
            <a:ext cx="392906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MITRE ATLAS: AML.T0043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4193677"/>
            <a:ext cx="6075093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Gradient-based perturbation algorithms compute loss gradient with respect to input pixels.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0150" y="5693864"/>
            <a:ext cx="677233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FGSM (Fast Gradient Sign Method)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0150" y="6012952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One single step along gradient sign.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0150" y="7065464"/>
            <a:ext cx="677233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PGD (Projected Gradient Descent)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0150" y="7384552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Iterative step-wise optimization bounded by ε.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46793" y="4591345"/>
            <a:ext cx="355401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1. Compute Loss Gradient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44738" y="4624683"/>
            <a:ext cx="20431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∇_x L(θ, x, y)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46793" y="5605758"/>
            <a:ext cx="335756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2. Extract Sign Direction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87638" y="5639095"/>
            <a:ext cx="17002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sign(∇_x L)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46793" y="6620170"/>
            <a:ext cx="369689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3. Apply Perturbation Step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73238" y="6653508"/>
            <a:ext cx="2732484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+ ε · sign(∇_x L)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0112" y="4288927"/>
            <a:ext cx="8086725" cy="2243138"/>
            <a:chOff x="0" y="0"/>
            <a:chExt cx="10782300" cy="2990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82300" cy="2990850"/>
            </a:xfrm>
            <a:custGeom>
              <a:avLst/>
              <a:gdLst/>
              <a:ahLst/>
              <a:cxnLst/>
              <a:rect r="r" b="b" t="t" l="l"/>
              <a:pathLst>
                <a:path h="2990850" w="1078230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10550779" y="0"/>
                  </a:lnTo>
                  <a:cubicBezTo>
                    <a:pt x="10678668" y="0"/>
                    <a:pt x="10782300" y="103632"/>
                    <a:pt x="10782300" y="231521"/>
                  </a:cubicBezTo>
                  <a:lnTo>
                    <a:pt x="10782300" y="2759329"/>
                  </a:lnTo>
                  <a:cubicBezTo>
                    <a:pt x="10782300" y="2887218"/>
                    <a:pt x="10678668" y="2990850"/>
                    <a:pt x="10550779" y="2990850"/>
                  </a:cubicBezTo>
                  <a:lnTo>
                    <a:pt x="231521" y="2990850"/>
                  </a:lnTo>
                  <a:cubicBezTo>
                    <a:pt x="103632" y="2990850"/>
                    <a:pt x="0" y="2887218"/>
                    <a:pt x="0" y="2759329"/>
                  </a:cubicBezTo>
                  <a:close/>
                </a:path>
              </a:pathLst>
            </a:custGeom>
            <a:solidFill>
              <a:srgbClr val="FEE2E2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01162" y="4288927"/>
            <a:ext cx="8086725" cy="2243138"/>
            <a:chOff x="0" y="0"/>
            <a:chExt cx="10782300" cy="2990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2300" cy="2990850"/>
            </a:xfrm>
            <a:custGeom>
              <a:avLst/>
              <a:gdLst/>
              <a:ahLst/>
              <a:cxnLst/>
              <a:rect r="r" b="b" t="t" l="l"/>
              <a:pathLst>
                <a:path h="2990850" w="1078230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10550779" y="0"/>
                  </a:lnTo>
                  <a:cubicBezTo>
                    <a:pt x="10678668" y="0"/>
                    <a:pt x="10782300" y="103632"/>
                    <a:pt x="10782300" y="231521"/>
                  </a:cubicBezTo>
                  <a:lnTo>
                    <a:pt x="10782300" y="2759329"/>
                  </a:lnTo>
                  <a:cubicBezTo>
                    <a:pt x="10782300" y="2887218"/>
                    <a:pt x="10678668" y="2990850"/>
                    <a:pt x="10550779" y="2990850"/>
                  </a:cubicBezTo>
                  <a:lnTo>
                    <a:pt x="231521" y="2990850"/>
                  </a:lnTo>
                  <a:cubicBezTo>
                    <a:pt x="103632" y="2990850"/>
                    <a:pt x="0" y="2887218"/>
                    <a:pt x="0" y="2759329"/>
                  </a:cubicBezTo>
                  <a:close/>
                </a:path>
              </a:pathLst>
            </a:custGeom>
            <a:solidFill>
              <a:srgbClr val="D1E7DD"/>
            </a:solidFill>
            <a:ln w="28575" cap="sq">
              <a:solidFill>
                <a:srgbClr val="0F5132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EMPIRICAL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 1: Evasion Benchmark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Adversarial training raised FGSM accuracy from 0.05 to 0.33. Six times higher resistance.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475" y="4674689"/>
            <a:ext cx="9144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BASELINE MODEL (ε = 8/255)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2525" y="4674689"/>
            <a:ext cx="9144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ROBUST MODEL (ε = 8/255)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8831" y="5160464"/>
            <a:ext cx="2143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991B1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0.05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8831" y="5827214"/>
            <a:ext cx="21431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FGSM Accuracy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07869" y="5160464"/>
            <a:ext cx="20002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991B1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0.00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07869" y="5827214"/>
            <a:ext cx="200025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PGD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9881" y="5160464"/>
            <a:ext cx="2143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0.33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9881" y="5827214"/>
            <a:ext cx="21431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5132"/>
                </a:solidFill>
                <a:latin typeface="Arimo"/>
                <a:ea typeface="Arimo"/>
                <a:cs typeface="Arimo"/>
                <a:sym typeface="Arimo"/>
              </a:rPr>
              <a:t>FGSM Accuracy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08919" y="5160464"/>
            <a:ext cx="20002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0.18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08919" y="5827214"/>
            <a:ext cx="200025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5132"/>
                </a:solidFill>
                <a:latin typeface="Arimo"/>
                <a:ea typeface="Arimo"/>
                <a:cs typeface="Arimo"/>
                <a:sym typeface="Arimo"/>
              </a:rPr>
              <a:t>PGD Accuracy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25274" y="4181770"/>
            <a:ext cx="9855470" cy="3186112"/>
            <a:chOff x="0" y="0"/>
            <a:chExt cx="13140626" cy="4248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40689" cy="4248150"/>
            </a:xfrm>
            <a:custGeom>
              <a:avLst/>
              <a:gdLst/>
              <a:ahLst/>
              <a:cxnLst/>
              <a:rect r="r" b="b" t="t" l="l"/>
              <a:pathLst>
                <a:path h="4248150" w="13140689">
                  <a:moveTo>
                    <a:pt x="0" y="229616"/>
                  </a:moveTo>
                  <a:cubicBezTo>
                    <a:pt x="0" y="102743"/>
                    <a:pt x="102743" y="0"/>
                    <a:pt x="229616" y="0"/>
                  </a:cubicBezTo>
                  <a:lnTo>
                    <a:pt x="12911074" y="0"/>
                  </a:lnTo>
                  <a:cubicBezTo>
                    <a:pt x="13037947" y="0"/>
                    <a:pt x="13140689" y="102743"/>
                    <a:pt x="13140689" y="229616"/>
                  </a:cubicBezTo>
                  <a:lnTo>
                    <a:pt x="13140689" y="4018534"/>
                  </a:lnTo>
                  <a:cubicBezTo>
                    <a:pt x="13140689" y="4145407"/>
                    <a:pt x="13037947" y="4248150"/>
                    <a:pt x="12911074" y="4248150"/>
                  </a:cubicBezTo>
                  <a:lnTo>
                    <a:pt x="229616" y="4248150"/>
                  </a:lnTo>
                  <a:cubicBezTo>
                    <a:pt x="102743" y="4248150"/>
                    <a:pt x="0" y="4145407"/>
                    <a:pt x="0" y="401853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388939"/>
            <a:ext cx="3143250" cy="300038"/>
            <a:chOff x="0" y="0"/>
            <a:chExt cx="4191000" cy="400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803402"/>
            <a:ext cx="5932218" cy="1357312"/>
            <a:chOff x="0" y="0"/>
            <a:chExt cx="7909623" cy="1809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09560" cy="1809750"/>
            </a:xfrm>
            <a:custGeom>
              <a:avLst/>
              <a:gdLst/>
              <a:ahLst/>
              <a:cxnLst/>
              <a:rect r="r" b="b" t="t" l="l"/>
              <a:pathLst>
                <a:path h="1809750" w="790956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57160" y="0"/>
                  </a:lnTo>
                  <a:cubicBezTo>
                    <a:pt x="7841361" y="0"/>
                    <a:pt x="7909560" y="68199"/>
                    <a:pt x="7909560" y="152400"/>
                  </a:cubicBezTo>
                  <a:lnTo>
                    <a:pt x="7909560" y="1657350"/>
                  </a:lnTo>
                  <a:cubicBezTo>
                    <a:pt x="7909560" y="1741551"/>
                    <a:pt x="7841361" y="1809750"/>
                    <a:pt x="7757160" y="1809750"/>
                  </a:cubicBezTo>
                  <a:lnTo>
                    <a:pt x="152400" y="1809750"/>
                  </a:lnTo>
                  <a:cubicBezTo>
                    <a:pt x="68199" y="1809750"/>
                    <a:pt x="0" y="1741551"/>
                    <a:pt x="0" y="16573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6761" y="5296195"/>
            <a:ext cx="8912495" cy="1600200"/>
            <a:chOff x="0" y="0"/>
            <a:chExt cx="11883326" cy="2133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8339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1883390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11729593" y="0"/>
                  </a:lnTo>
                  <a:cubicBezTo>
                    <a:pt x="11814556" y="0"/>
                    <a:pt x="11883390" y="68834"/>
                    <a:pt x="11883390" y="153797"/>
                  </a:cubicBezTo>
                  <a:lnTo>
                    <a:pt x="11883390" y="1979803"/>
                  </a:lnTo>
                  <a:cubicBezTo>
                    <a:pt x="11883390" y="2064766"/>
                    <a:pt x="11814556" y="2133600"/>
                    <a:pt x="11729593" y="2133600"/>
                  </a:cubicBezTo>
                  <a:lnTo>
                    <a:pt x="153797" y="2133600"/>
                  </a:lnTo>
                  <a:cubicBezTo>
                    <a:pt x="68834" y="2133600"/>
                    <a:pt x="0" y="2064766"/>
                    <a:pt x="0" y="1979803"/>
                  </a:cubicBezTo>
                  <a:close/>
                </a:path>
              </a:pathLst>
            </a:custGeom>
            <a:solidFill>
              <a:srgbClr val="D1E7DD"/>
            </a:solidFill>
            <a:ln w="14288" cap="sq">
              <a:solidFill>
                <a:srgbClr val="A3CFB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803402"/>
            <a:ext cx="57150" cy="1357312"/>
            <a:chOff x="0" y="0"/>
            <a:chExt cx="76200" cy="1809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809750"/>
            </a:xfrm>
            <a:custGeom>
              <a:avLst/>
              <a:gdLst/>
              <a:ahLst/>
              <a:cxnLst/>
              <a:rect r="r" b="b" t="t" l="l"/>
              <a:pathLst>
                <a:path h="1809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MODEL THEFT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 2: Model Extraction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388939"/>
            <a:ext cx="392906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MITRE ATLAS: AML.T0024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4908052"/>
            <a:ext cx="6075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Query victim model 2,000 times, collect outputs, train substitute model.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03905" y="4641352"/>
            <a:ext cx="1028409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Defensive Impact vs Hardened Endpoint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150" y="6012952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Soft Labels (Full Softmax):</a:t>
            </a: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Fidelity = 0.835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" y="6312989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Hard Labels (Argmax):</a:t>
            </a: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Fidelity = 0.825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50" y="6613027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Random baseline = 0.275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03943" y="5593852"/>
            <a:ext cx="99840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Rate Limiter 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03943" y="5970089"/>
            <a:ext cx="844100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5132"/>
                </a:solidFill>
                <a:latin typeface="Arimo"/>
                <a:ea typeface="Arimo"/>
                <a:cs typeface="Arimo"/>
                <a:sym typeface="Arimo"/>
              </a:rPr>
              <a:t>Extraction attempt halted after 20 of 30 queries due to HTTP 429 response enforcement.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58238"/>
            <a:ext cx="16459200" cy="728662"/>
            <a:chOff x="0" y="0"/>
            <a:chExt cx="21945600" cy="9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1550"/>
            </a:xfrm>
            <a:custGeom>
              <a:avLst/>
              <a:gdLst/>
              <a:ahLst/>
              <a:cxnLst/>
              <a:rect r="r" b="b" t="t" l="l"/>
              <a:pathLst>
                <a:path h="9715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8758238"/>
            <a:ext cx="57150" cy="728662"/>
            <a:chOff x="0" y="0"/>
            <a:chExt cx="76200" cy="971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971550"/>
            </a:xfrm>
            <a:custGeom>
              <a:avLst/>
              <a:gdLst/>
              <a:ahLst/>
              <a:cxnLst/>
              <a:rect r="r" b="b" t="t" l="l"/>
              <a:pathLst>
                <a:path h="971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25274" y="3781720"/>
            <a:ext cx="9855470" cy="3257550"/>
            <a:chOff x="0" y="0"/>
            <a:chExt cx="13140626" cy="4343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40689" cy="4343400"/>
            </a:xfrm>
            <a:custGeom>
              <a:avLst/>
              <a:gdLst/>
              <a:ahLst/>
              <a:cxnLst/>
              <a:rect r="r" b="b" t="t" l="l"/>
              <a:pathLst>
                <a:path h="4343400" w="13140689">
                  <a:moveTo>
                    <a:pt x="0" y="229616"/>
                  </a:moveTo>
                  <a:cubicBezTo>
                    <a:pt x="0" y="102743"/>
                    <a:pt x="102743" y="0"/>
                    <a:pt x="229616" y="0"/>
                  </a:cubicBezTo>
                  <a:lnTo>
                    <a:pt x="12911074" y="0"/>
                  </a:lnTo>
                  <a:cubicBezTo>
                    <a:pt x="13037820" y="0"/>
                    <a:pt x="13140689" y="102743"/>
                    <a:pt x="13140689" y="229616"/>
                  </a:cubicBezTo>
                  <a:lnTo>
                    <a:pt x="13140689" y="4113784"/>
                  </a:lnTo>
                  <a:cubicBezTo>
                    <a:pt x="13140689" y="4240530"/>
                    <a:pt x="13037947" y="4343400"/>
                    <a:pt x="12911074" y="4343400"/>
                  </a:cubicBezTo>
                  <a:lnTo>
                    <a:pt x="229616" y="4343400"/>
                  </a:lnTo>
                  <a:cubicBezTo>
                    <a:pt x="102743" y="4343400"/>
                    <a:pt x="0" y="4240657"/>
                    <a:pt x="0" y="411378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4024608"/>
            <a:ext cx="3143250" cy="300038"/>
            <a:chOff x="0" y="0"/>
            <a:chExt cx="4191000" cy="400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CFF4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439070"/>
            <a:ext cx="5932218" cy="1357312"/>
            <a:chOff x="0" y="0"/>
            <a:chExt cx="7909623" cy="1809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09560" cy="1809750"/>
            </a:xfrm>
            <a:custGeom>
              <a:avLst/>
              <a:gdLst/>
              <a:ahLst/>
              <a:cxnLst/>
              <a:rect r="r" b="b" t="t" l="l"/>
              <a:pathLst>
                <a:path h="1809750" w="790956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757160" y="0"/>
                  </a:lnTo>
                  <a:cubicBezTo>
                    <a:pt x="7841361" y="0"/>
                    <a:pt x="7909560" y="68199"/>
                    <a:pt x="7909560" y="152400"/>
                  </a:cubicBezTo>
                  <a:lnTo>
                    <a:pt x="7909560" y="1657350"/>
                  </a:lnTo>
                  <a:cubicBezTo>
                    <a:pt x="7909560" y="1741551"/>
                    <a:pt x="7841361" y="1809750"/>
                    <a:pt x="7757160" y="1809750"/>
                  </a:cubicBezTo>
                  <a:lnTo>
                    <a:pt x="152400" y="1809750"/>
                  </a:lnTo>
                  <a:cubicBezTo>
                    <a:pt x="68199" y="1809750"/>
                    <a:pt x="0" y="1741551"/>
                    <a:pt x="0" y="16573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96761" y="4781845"/>
            <a:ext cx="8912495" cy="1785938"/>
            <a:chOff x="0" y="0"/>
            <a:chExt cx="11883326" cy="2381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3389" cy="2381250"/>
            </a:xfrm>
            <a:custGeom>
              <a:avLst/>
              <a:gdLst/>
              <a:ahLst/>
              <a:cxnLst/>
              <a:rect r="r" b="b" t="t" l="l"/>
              <a:pathLst>
                <a:path h="2381250" w="11883389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1729720" y="0"/>
                  </a:lnTo>
                  <a:cubicBezTo>
                    <a:pt x="11814556" y="0"/>
                    <a:pt x="11883389" y="68834"/>
                    <a:pt x="11883389" y="153670"/>
                  </a:cubicBezTo>
                  <a:lnTo>
                    <a:pt x="11883389" y="2227580"/>
                  </a:lnTo>
                  <a:cubicBezTo>
                    <a:pt x="11883389" y="2312416"/>
                    <a:pt x="11814556" y="2381250"/>
                    <a:pt x="11729720" y="2381250"/>
                  </a:cubicBezTo>
                  <a:lnTo>
                    <a:pt x="153670" y="2381250"/>
                  </a:lnTo>
                  <a:cubicBezTo>
                    <a:pt x="68834" y="2381250"/>
                    <a:pt x="0" y="2312416"/>
                    <a:pt x="0" y="22275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5439070"/>
            <a:ext cx="57150" cy="1357312"/>
            <a:chOff x="0" y="0"/>
            <a:chExt cx="76200" cy="1809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1809750"/>
            </a:xfrm>
            <a:custGeom>
              <a:avLst/>
              <a:gdLst/>
              <a:ahLst/>
              <a:cxnLst/>
              <a:rect r="r" b="b" t="t" l="l"/>
              <a:pathLst>
                <a:path h="1809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PRIVACY LEAKAGE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 3: Membership Inference (MIA)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" y="8948737"/>
            <a:ext cx="160305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Signal stays near 0.50 baseline. Model does not strongly memorize training samples.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4024608"/>
            <a:ext cx="392906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551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MITRE ATLAS: AML.T0025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4543720"/>
            <a:ext cx="60750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Query matched samples of training members vs non-members. Compare confidence scores.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1623" y="4260352"/>
            <a:ext cx="11122762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CONFIDENCE THRESHOLD SWEEP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0150" y="5648620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Vulnerable Accuracy:</a:t>
            </a: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0.5425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0150" y="5948658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Hardened Accuracy:</a:t>
            </a: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0.5575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0150" y="6248695"/>
            <a:ext cx="677233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Majority Baseline = 0.50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56700" y="5146177"/>
            <a:ext cx="3178969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284C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~0.55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56700" y="5884364"/>
            <a:ext cx="3178969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Weak Memory Leakage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96760" y="5146177"/>
            <a:ext cx="2482453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64748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0.50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96760" y="5884364"/>
            <a:ext cx="248245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Random Guessing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524545"/>
            <a:ext cx="1163088" cy="14288"/>
            <a:chOff x="0" y="0"/>
            <a:chExt cx="1550784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77488" y="3524545"/>
            <a:ext cx="8167535" cy="14288"/>
            <a:chOff x="0" y="0"/>
            <a:chExt cx="10890047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45033" y="3524545"/>
            <a:ext cx="3242148" cy="14288"/>
            <a:chOff x="0" y="0"/>
            <a:chExt cx="4322864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87181" y="3524545"/>
            <a:ext cx="3886419" cy="14288"/>
            <a:chOff x="0" y="0"/>
            <a:chExt cx="5181892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4253208"/>
            <a:ext cx="1163088" cy="14288"/>
            <a:chOff x="0" y="0"/>
            <a:chExt cx="1550784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77488" y="4253208"/>
            <a:ext cx="8167535" cy="14288"/>
            <a:chOff x="0" y="0"/>
            <a:chExt cx="10890047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45033" y="4253208"/>
            <a:ext cx="3242148" cy="14288"/>
            <a:chOff x="0" y="0"/>
            <a:chExt cx="4322864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87181" y="4253208"/>
            <a:ext cx="3886419" cy="14288"/>
            <a:chOff x="0" y="0"/>
            <a:chExt cx="5181892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4981870"/>
            <a:ext cx="1163088" cy="14288"/>
            <a:chOff x="0" y="0"/>
            <a:chExt cx="1550784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077488" y="4981870"/>
            <a:ext cx="8167535" cy="14288"/>
            <a:chOff x="0" y="0"/>
            <a:chExt cx="10890047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45033" y="4981870"/>
            <a:ext cx="3242148" cy="14288"/>
            <a:chOff x="0" y="0"/>
            <a:chExt cx="4322864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487181" y="4981870"/>
            <a:ext cx="3886419" cy="14288"/>
            <a:chOff x="0" y="0"/>
            <a:chExt cx="5181892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5710533"/>
            <a:ext cx="1163088" cy="14288"/>
            <a:chOff x="0" y="0"/>
            <a:chExt cx="1550784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77488" y="5710533"/>
            <a:ext cx="8167535" cy="14288"/>
            <a:chOff x="0" y="0"/>
            <a:chExt cx="10890047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45033" y="5710533"/>
            <a:ext cx="3242148" cy="14288"/>
            <a:chOff x="0" y="0"/>
            <a:chExt cx="4322864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487181" y="5710533"/>
            <a:ext cx="3886419" cy="14288"/>
            <a:chOff x="0" y="0"/>
            <a:chExt cx="5181892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6439195"/>
            <a:ext cx="1163088" cy="14288"/>
            <a:chOff x="0" y="0"/>
            <a:chExt cx="1550784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077488" y="6439195"/>
            <a:ext cx="8167535" cy="14288"/>
            <a:chOff x="0" y="0"/>
            <a:chExt cx="10890047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45033" y="6439195"/>
            <a:ext cx="3242148" cy="14288"/>
            <a:chOff x="0" y="0"/>
            <a:chExt cx="4322864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87181" y="6439195"/>
            <a:ext cx="3886419" cy="14288"/>
            <a:chOff x="0" y="0"/>
            <a:chExt cx="5181892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7167858"/>
            <a:ext cx="1163088" cy="14288"/>
            <a:chOff x="0" y="0"/>
            <a:chExt cx="1550784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077488" y="7167858"/>
            <a:ext cx="8167535" cy="14288"/>
            <a:chOff x="0" y="0"/>
            <a:chExt cx="10890047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45033" y="7167858"/>
            <a:ext cx="3242148" cy="14288"/>
            <a:chOff x="0" y="0"/>
            <a:chExt cx="4322864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487181" y="7167858"/>
            <a:ext cx="3886419" cy="14288"/>
            <a:chOff x="0" y="0"/>
            <a:chExt cx="5181892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7896520"/>
            <a:ext cx="1163088" cy="14288"/>
            <a:chOff x="0" y="0"/>
            <a:chExt cx="1550784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077488" y="7896520"/>
            <a:ext cx="8167535" cy="14288"/>
            <a:chOff x="0" y="0"/>
            <a:chExt cx="10890047" cy="19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45033" y="7896520"/>
            <a:ext cx="3242148" cy="14288"/>
            <a:chOff x="0" y="0"/>
            <a:chExt cx="4322864" cy="19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487181" y="7896520"/>
            <a:ext cx="3886419" cy="14288"/>
            <a:chOff x="0" y="0"/>
            <a:chExt cx="5181892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8625183"/>
            <a:ext cx="1163088" cy="14288"/>
            <a:chOff x="0" y="0"/>
            <a:chExt cx="1550784" cy="19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077488" y="8625183"/>
            <a:ext cx="8167535" cy="14288"/>
            <a:chOff x="0" y="0"/>
            <a:chExt cx="10890047" cy="190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245033" y="8625183"/>
            <a:ext cx="3242148" cy="14288"/>
            <a:chOff x="0" y="0"/>
            <a:chExt cx="4322864" cy="190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487181" y="8625183"/>
            <a:ext cx="3886419" cy="14288"/>
            <a:chOff x="0" y="0"/>
            <a:chExt cx="5181892" cy="19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14400" y="9353845"/>
            <a:ext cx="1163088" cy="14288"/>
            <a:chOff x="0" y="0"/>
            <a:chExt cx="1550784" cy="190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50797" cy="19050"/>
            </a:xfrm>
            <a:custGeom>
              <a:avLst/>
              <a:gdLst/>
              <a:ahLst/>
              <a:cxnLst/>
              <a:rect r="r" b="b" t="t" l="l"/>
              <a:pathLst>
                <a:path h="19050" w="1550797">
                  <a:moveTo>
                    <a:pt x="0" y="0"/>
                  </a:moveTo>
                  <a:lnTo>
                    <a:pt x="1550797" y="0"/>
                  </a:lnTo>
                  <a:lnTo>
                    <a:pt x="15507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077488" y="9353845"/>
            <a:ext cx="8167535" cy="14288"/>
            <a:chOff x="0" y="0"/>
            <a:chExt cx="10890047" cy="190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89996" cy="19050"/>
            </a:xfrm>
            <a:custGeom>
              <a:avLst/>
              <a:gdLst/>
              <a:ahLst/>
              <a:cxnLst/>
              <a:rect r="r" b="b" t="t" l="l"/>
              <a:pathLst>
                <a:path h="19050" w="10889996">
                  <a:moveTo>
                    <a:pt x="0" y="0"/>
                  </a:moveTo>
                  <a:lnTo>
                    <a:pt x="10889996" y="0"/>
                  </a:lnTo>
                  <a:lnTo>
                    <a:pt x="108899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245033" y="9353845"/>
            <a:ext cx="3242148" cy="14288"/>
            <a:chOff x="0" y="0"/>
            <a:chExt cx="4322864" cy="190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22826" cy="19050"/>
            </a:xfrm>
            <a:custGeom>
              <a:avLst/>
              <a:gdLst/>
              <a:ahLst/>
              <a:cxnLst/>
              <a:rect r="r" b="b" t="t" l="l"/>
              <a:pathLst>
                <a:path h="19050" w="4322826">
                  <a:moveTo>
                    <a:pt x="0" y="0"/>
                  </a:moveTo>
                  <a:lnTo>
                    <a:pt x="4322826" y="0"/>
                  </a:lnTo>
                  <a:lnTo>
                    <a:pt x="4322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487181" y="9353845"/>
            <a:ext cx="3886419" cy="14288"/>
            <a:chOff x="0" y="0"/>
            <a:chExt cx="5181892" cy="190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81854" cy="19050"/>
            </a:xfrm>
            <a:custGeom>
              <a:avLst/>
              <a:gdLst/>
              <a:ahLst/>
              <a:cxnLst/>
              <a:rect r="r" b="b" t="t" l="l"/>
              <a:pathLst>
                <a:path h="19050" w="5181854">
                  <a:moveTo>
                    <a:pt x="0" y="0"/>
                  </a:moveTo>
                  <a:lnTo>
                    <a:pt x="5181854" y="0"/>
                  </a:lnTo>
                  <a:lnTo>
                    <a:pt x="51818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715781" y="2988764"/>
            <a:ext cx="1785938" cy="371475"/>
            <a:chOff x="0" y="0"/>
            <a:chExt cx="2381250" cy="4953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81250" cy="495300"/>
            </a:xfrm>
            <a:custGeom>
              <a:avLst/>
              <a:gdLst/>
              <a:ahLst/>
              <a:cxnLst/>
              <a:rect r="r" b="b" t="t" l="l"/>
              <a:pathLst>
                <a:path h="495300" w="2381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305050" y="0"/>
                  </a:lnTo>
                  <a:cubicBezTo>
                    <a:pt x="2347087" y="0"/>
                    <a:pt x="2381250" y="34163"/>
                    <a:pt x="2381250" y="76200"/>
                  </a:cubicBezTo>
                  <a:lnTo>
                    <a:pt x="2381250" y="419100"/>
                  </a:lnTo>
                  <a:cubicBezTo>
                    <a:pt x="2381250" y="461137"/>
                    <a:pt x="2347087" y="495300"/>
                    <a:pt x="2305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715781" y="3717427"/>
            <a:ext cx="1785938" cy="371475"/>
            <a:chOff x="0" y="0"/>
            <a:chExt cx="2381250" cy="4953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81250" cy="495300"/>
            </a:xfrm>
            <a:custGeom>
              <a:avLst/>
              <a:gdLst/>
              <a:ahLst/>
              <a:cxnLst/>
              <a:rect r="r" b="b" t="t" l="l"/>
              <a:pathLst>
                <a:path h="495300" w="2381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305050" y="0"/>
                  </a:lnTo>
                  <a:cubicBezTo>
                    <a:pt x="2347087" y="0"/>
                    <a:pt x="2381250" y="34163"/>
                    <a:pt x="2381250" y="76200"/>
                  </a:cubicBezTo>
                  <a:lnTo>
                    <a:pt x="2381250" y="419100"/>
                  </a:lnTo>
                  <a:cubicBezTo>
                    <a:pt x="2381250" y="461137"/>
                    <a:pt x="2347087" y="495300"/>
                    <a:pt x="2305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715781" y="4446089"/>
            <a:ext cx="1785938" cy="371475"/>
            <a:chOff x="0" y="0"/>
            <a:chExt cx="2381250" cy="4953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81250" cy="495300"/>
            </a:xfrm>
            <a:custGeom>
              <a:avLst/>
              <a:gdLst/>
              <a:ahLst/>
              <a:cxnLst/>
              <a:rect r="r" b="b" t="t" l="l"/>
              <a:pathLst>
                <a:path h="495300" w="2381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305050" y="0"/>
                  </a:lnTo>
                  <a:cubicBezTo>
                    <a:pt x="2347087" y="0"/>
                    <a:pt x="2381250" y="34163"/>
                    <a:pt x="2381250" y="76200"/>
                  </a:cubicBezTo>
                  <a:lnTo>
                    <a:pt x="2381250" y="419100"/>
                  </a:lnTo>
                  <a:cubicBezTo>
                    <a:pt x="2381250" y="461137"/>
                    <a:pt x="2347087" y="495300"/>
                    <a:pt x="2305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715781" y="5174752"/>
            <a:ext cx="1785938" cy="371475"/>
            <a:chOff x="0" y="0"/>
            <a:chExt cx="2381250" cy="4953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81250" cy="495300"/>
            </a:xfrm>
            <a:custGeom>
              <a:avLst/>
              <a:gdLst/>
              <a:ahLst/>
              <a:cxnLst/>
              <a:rect r="r" b="b" t="t" l="l"/>
              <a:pathLst>
                <a:path h="495300" w="2381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305050" y="0"/>
                  </a:lnTo>
                  <a:cubicBezTo>
                    <a:pt x="2347087" y="0"/>
                    <a:pt x="2381250" y="34163"/>
                    <a:pt x="2381250" y="76200"/>
                  </a:cubicBezTo>
                  <a:lnTo>
                    <a:pt x="2381250" y="419100"/>
                  </a:lnTo>
                  <a:cubicBezTo>
                    <a:pt x="2381250" y="461137"/>
                    <a:pt x="2347087" y="495300"/>
                    <a:pt x="2305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715781" y="5903414"/>
            <a:ext cx="1214438" cy="371475"/>
            <a:chOff x="0" y="0"/>
            <a:chExt cx="1619250" cy="4953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619250" cy="495300"/>
            </a:xfrm>
            <a:custGeom>
              <a:avLst/>
              <a:gdLst/>
              <a:ahLst/>
              <a:cxnLst/>
              <a:rect r="r" b="b" t="t" l="l"/>
              <a:pathLst>
                <a:path h="495300" w="1619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543050" y="0"/>
                  </a:lnTo>
                  <a:cubicBezTo>
                    <a:pt x="1585087" y="0"/>
                    <a:pt x="1619250" y="34163"/>
                    <a:pt x="1619250" y="76200"/>
                  </a:cubicBezTo>
                  <a:lnTo>
                    <a:pt x="1619250" y="419100"/>
                  </a:lnTo>
                  <a:cubicBezTo>
                    <a:pt x="1619250" y="461137"/>
                    <a:pt x="1585087" y="495300"/>
                    <a:pt x="1543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715781" y="6632077"/>
            <a:ext cx="1485900" cy="371475"/>
            <a:chOff x="0" y="0"/>
            <a:chExt cx="1981200" cy="4953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81200" cy="495300"/>
            </a:xfrm>
            <a:custGeom>
              <a:avLst/>
              <a:gdLst/>
              <a:ahLst/>
              <a:cxnLst/>
              <a:rect r="r" b="b" t="t" l="l"/>
              <a:pathLst>
                <a:path h="495300" w="1981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05000" y="0"/>
                  </a:lnTo>
                  <a:cubicBezTo>
                    <a:pt x="1947037" y="0"/>
                    <a:pt x="1981200" y="34163"/>
                    <a:pt x="1981200" y="76200"/>
                  </a:cubicBezTo>
                  <a:lnTo>
                    <a:pt x="1981200" y="419100"/>
                  </a:lnTo>
                  <a:cubicBezTo>
                    <a:pt x="1981200" y="461137"/>
                    <a:pt x="1947037" y="495300"/>
                    <a:pt x="19050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715781" y="7360739"/>
            <a:ext cx="1214438" cy="371475"/>
            <a:chOff x="0" y="0"/>
            <a:chExt cx="1619250" cy="4953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619250" cy="495300"/>
            </a:xfrm>
            <a:custGeom>
              <a:avLst/>
              <a:gdLst/>
              <a:ahLst/>
              <a:cxnLst/>
              <a:rect r="r" b="b" t="t" l="l"/>
              <a:pathLst>
                <a:path h="495300" w="16192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543050" y="0"/>
                  </a:lnTo>
                  <a:cubicBezTo>
                    <a:pt x="1585087" y="0"/>
                    <a:pt x="1619250" y="34163"/>
                    <a:pt x="1619250" y="76200"/>
                  </a:cubicBezTo>
                  <a:lnTo>
                    <a:pt x="1619250" y="419100"/>
                  </a:lnTo>
                  <a:cubicBezTo>
                    <a:pt x="1619250" y="461137"/>
                    <a:pt x="1585087" y="495300"/>
                    <a:pt x="154305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715781" y="8089402"/>
            <a:ext cx="1485900" cy="371475"/>
            <a:chOff x="0" y="0"/>
            <a:chExt cx="1981200" cy="4953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981200" cy="495300"/>
            </a:xfrm>
            <a:custGeom>
              <a:avLst/>
              <a:gdLst/>
              <a:ahLst/>
              <a:cxnLst/>
              <a:rect r="r" b="b" t="t" l="l"/>
              <a:pathLst>
                <a:path h="495300" w="1981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05000" y="0"/>
                  </a:lnTo>
                  <a:cubicBezTo>
                    <a:pt x="1947037" y="0"/>
                    <a:pt x="1981200" y="34163"/>
                    <a:pt x="1981200" y="76200"/>
                  </a:cubicBezTo>
                  <a:lnTo>
                    <a:pt x="1981200" y="419100"/>
                  </a:lnTo>
                  <a:cubicBezTo>
                    <a:pt x="1981200" y="461137"/>
                    <a:pt x="1947037" y="495300"/>
                    <a:pt x="19050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715781" y="8818064"/>
            <a:ext cx="1485900" cy="371475"/>
            <a:chOff x="0" y="0"/>
            <a:chExt cx="1981200" cy="4953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81200" cy="495300"/>
            </a:xfrm>
            <a:custGeom>
              <a:avLst/>
              <a:gdLst/>
              <a:ahLst/>
              <a:cxnLst/>
              <a:rect r="r" b="b" t="t" l="l"/>
              <a:pathLst>
                <a:path h="495300" w="1981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05000" y="0"/>
                  </a:lnTo>
                  <a:cubicBezTo>
                    <a:pt x="1947037" y="0"/>
                    <a:pt x="1981200" y="34163"/>
                    <a:pt x="1981200" y="76200"/>
                  </a:cubicBezTo>
                  <a:lnTo>
                    <a:pt x="1981200" y="419100"/>
                  </a:lnTo>
                  <a:cubicBezTo>
                    <a:pt x="1981200" y="461137"/>
                    <a:pt x="1947037" y="495300"/>
                    <a:pt x="1905000" y="495300"/>
                  </a:cubicBezTo>
                  <a:lnTo>
                    <a:pt x="76200" y="495300"/>
                  </a:lnTo>
                  <a:cubicBezTo>
                    <a:pt x="34163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aphicFrame>
        <p:nvGraphicFramePr>
          <p:cNvPr name="Table 92" id="92"/>
          <p:cNvGraphicFramePr>
            <a:graphicFrameLocks noGrp="true"/>
          </p:cNvGraphicFramePr>
          <p:nvPr/>
        </p:nvGraphicFramePr>
        <p:xfrm>
          <a:off x="914400" y="2174378"/>
          <a:ext cx="16440150" cy="7048500"/>
        </p:xfrm>
        <a:graphic>
          <a:graphicData uri="http://schemas.openxmlformats.org/drawingml/2006/table">
            <a:tbl>
              <a:tblPr/>
              <a:tblGrid>
                <a:gridCol w="1161745"/>
                <a:gridCol w="8158087"/>
                <a:gridCol w="3238393"/>
                <a:gridCol w="3881925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#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FINDING DESCRIPTION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ATLAS ID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STATUS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/model-info architecture leak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AML.T0007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Verbose error stack traces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AML.T0007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inference rate limiting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AML.T0024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Auto-generated API docs exposed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AML.T0007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API key in plaintext environment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AML.T0010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Container process runs as root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Volume mounts expose host paths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Uncapped container memory/CPU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—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explicit CORS restriction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AML.T0000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3" id="93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AUDIT FINDINGS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14400" y="10287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Nine System-Level Findings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3858656" y="3036389"/>
            <a:ext cx="16430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Vulnerable Only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858656" y="3765052"/>
            <a:ext cx="16430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Vulnerable Only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858656" y="4493714"/>
            <a:ext cx="16430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Vulnerable Only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858656" y="5222377"/>
            <a:ext cx="16430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2400E"/>
                </a:solidFill>
                <a:latin typeface="Arimo Bold"/>
                <a:ea typeface="Arimo Bold"/>
                <a:cs typeface="Arimo Bold"/>
                <a:sym typeface="Arimo Bold"/>
              </a:rPr>
              <a:t>Vulnerable Only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858656" y="5951039"/>
            <a:ext cx="10715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Mitigated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858656" y="6679702"/>
            <a:ext cx="13430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Remediated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858656" y="7408364"/>
            <a:ext cx="10715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Mitigated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858656" y="8137027"/>
            <a:ext cx="13430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Remediated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858656" y="8865689"/>
            <a:ext cx="13430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5132"/>
                </a:solidFill>
                <a:latin typeface="Arimo Bold"/>
                <a:ea typeface="Arimo Bold"/>
                <a:cs typeface="Arimo Bold"/>
                <a:sym typeface="Arimo Bold"/>
              </a:rPr>
              <a:t>Remediated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246064"/>
            <a:ext cx="5272088" cy="3057525"/>
            <a:chOff x="0" y="0"/>
            <a:chExt cx="7029450" cy="407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29450" cy="4076700"/>
            </a:xfrm>
            <a:custGeom>
              <a:avLst/>
              <a:gdLst/>
              <a:ahLst/>
              <a:cxnLst/>
              <a:rect r="r" b="b" t="t" l="l"/>
              <a:pathLst>
                <a:path h="4076700" w="7029450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6799834" y="0"/>
                  </a:lnTo>
                  <a:cubicBezTo>
                    <a:pt x="6926707" y="0"/>
                    <a:pt x="7029450" y="102870"/>
                    <a:pt x="7029450" y="229616"/>
                  </a:cubicBezTo>
                  <a:lnTo>
                    <a:pt x="7029450" y="3847084"/>
                  </a:lnTo>
                  <a:cubicBezTo>
                    <a:pt x="7029450" y="3973957"/>
                    <a:pt x="6926580" y="4076700"/>
                    <a:pt x="6799834" y="4076700"/>
                  </a:cubicBezTo>
                  <a:lnTo>
                    <a:pt x="229616" y="4076700"/>
                  </a:lnTo>
                  <a:cubicBezTo>
                    <a:pt x="102870" y="4076700"/>
                    <a:pt x="0" y="3973830"/>
                    <a:pt x="0" y="384708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07956" y="4246064"/>
            <a:ext cx="5272088" cy="3057525"/>
            <a:chOff x="0" y="0"/>
            <a:chExt cx="7029450" cy="407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4076700"/>
            </a:xfrm>
            <a:custGeom>
              <a:avLst/>
              <a:gdLst/>
              <a:ahLst/>
              <a:cxnLst/>
              <a:rect r="r" b="b" t="t" l="l"/>
              <a:pathLst>
                <a:path h="4076700" w="7029450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6799834" y="0"/>
                  </a:lnTo>
                  <a:cubicBezTo>
                    <a:pt x="6926707" y="0"/>
                    <a:pt x="7029450" y="102870"/>
                    <a:pt x="7029450" y="229616"/>
                  </a:cubicBezTo>
                  <a:lnTo>
                    <a:pt x="7029450" y="3847084"/>
                  </a:lnTo>
                  <a:cubicBezTo>
                    <a:pt x="7029450" y="3973957"/>
                    <a:pt x="6926580" y="4076700"/>
                    <a:pt x="6799834" y="4076700"/>
                  </a:cubicBezTo>
                  <a:lnTo>
                    <a:pt x="229616" y="4076700"/>
                  </a:lnTo>
                  <a:cubicBezTo>
                    <a:pt x="102870" y="4076700"/>
                    <a:pt x="0" y="3973830"/>
                    <a:pt x="0" y="384708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08656" y="4246064"/>
            <a:ext cx="5272088" cy="3057525"/>
            <a:chOff x="0" y="0"/>
            <a:chExt cx="7029450" cy="4076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4076700"/>
            </a:xfrm>
            <a:custGeom>
              <a:avLst/>
              <a:gdLst/>
              <a:ahLst/>
              <a:cxnLst/>
              <a:rect r="r" b="b" t="t" l="l"/>
              <a:pathLst>
                <a:path h="4076700" w="7029450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6799834" y="0"/>
                  </a:lnTo>
                  <a:cubicBezTo>
                    <a:pt x="6926707" y="0"/>
                    <a:pt x="7029450" y="102870"/>
                    <a:pt x="7029450" y="229616"/>
                  </a:cubicBezTo>
                  <a:lnTo>
                    <a:pt x="7029450" y="3847084"/>
                  </a:lnTo>
                  <a:cubicBezTo>
                    <a:pt x="7029450" y="3973957"/>
                    <a:pt x="6926580" y="4076700"/>
                    <a:pt x="6799834" y="4076700"/>
                  </a:cubicBezTo>
                  <a:lnTo>
                    <a:pt x="229616" y="4076700"/>
                  </a:lnTo>
                  <a:cubicBezTo>
                    <a:pt x="102870" y="4076700"/>
                    <a:pt x="0" y="3973830"/>
                    <a:pt x="0" y="3847084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28738" y="6396333"/>
            <a:ext cx="4429125" cy="485775"/>
            <a:chOff x="0" y="0"/>
            <a:chExt cx="5905500" cy="647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0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59055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791200" y="0"/>
                  </a:lnTo>
                  <a:cubicBezTo>
                    <a:pt x="5854319" y="0"/>
                    <a:pt x="5905500" y="51181"/>
                    <a:pt x="5905500" y="114300"/>
                  </a:cubicBezTo>
                  <a:lnTo>
                    <a:pt x="5905500" y="533400"/>
                  </a:lnTo>
                  <a:cubicBezTo>
                    <a:pt x="5905500" y="596519"/>
                    <a:pt x="5854319" y="647700"/>
                    <a:pt x="5791200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29438" y="6396333"/>
            <a:ext cx="4429125" cy="485775"/>
            <a:chOff x="0" y="0"/>
            <a:chExt cx="5905500" cy="64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0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59055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791200" y="0"/>
                  </a:lnTo>
                  <a:cubicBezTo>
                    <a:pt x="5854319" y="0"/>
                    <a:pt x="5905500" y="51181"/>
                    <a:pt x="5905500" y="114300"/>
                  </a:cubicBezTo>
                  <a:lnTo>
                    <a:pt x="5905500" y="533400"/>
                  </a:lnTo>
                  <a:cubicBezTo>
                    <a:pt x="5905500" y="596519"/>
                    <a:pt x="5854319" y="647700"/>
                    <a:pt x="5791200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30138" y="6396333"/>
            <a:ext cx="4429125" cy="485775"/>
            <a:chOff x="0" y="0"/>
            <a:chExt cx="5905500" cy="64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0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59055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791200" y="0"/>
                  </a:lnTo>
                  <a:cubicBezTo>
                    <a:pt x="5854319" y="0"/>
                    <a:pt x="5905500" y="51181"/>
                    <a:pt x="5905500" y="114300"/>
                  </a:cubicBezTo>
                  <a:lnTo>
                    <a:pt x="5905500" y="533400"/>
                  </a:lnTo>
                  <a:cubicBezTo>
                    <a:pt x="5905500" y="596519"/>
                    <a:pt x="5854319" y="647700"/>
                    <a:pt x="5791200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D1E7D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REMEDIATION MATRIX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Defenses Built Across Attack Classes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8738" y="4667545"/>
            <a:ext cx="553640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EVASION DEFENSE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8738" y="5077120"/>
            <a:ext cx="581322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PGD Adversarial Training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8738" y="5605758"/>
            <a:ext cx="4572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Noise validator + detector rule: adversarial_noise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3038" y="6510633"/>
            <a:ext cx="434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F51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PGD Acc: 0.00 → 0.18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29438" y="4667545"/>
            <a:ext cx="553640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B4530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EXTRACTION DEFENSE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29438" y="5077120"/>
            <a:ext cx="581322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Rate Limiter &amp; Quotas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29438" y="5605758"/>
            <a:ext cx="4572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20 req / 60s + detector rule: extraction_volume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3738" y="6510633"/>
            <a:ext cx="434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F51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Blocked at 20 queries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30138" y="4667545"/>
            <a:ext cx="553640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MIA DEFENSE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0138" y="5077120"/>
            <a:ext cx="575786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Output Precision Reducer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0138" y="5605758"/>
            <a:ext cx="4572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Rounded confidence + detector: mia_confidence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44438" y="6510633"/>
            <a:ext cx="4343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F51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Signal near 0.50 baseline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974602"/>
            <a:ext cx="7915275" cy="3600450"/>
            <a:chOff x="0" y="0"/>
            <a:chExt cx="10553700" cy="4800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537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1055370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10324211" y="0"/>
                  </a:lnTo>
                  <a:cubicBezTo>
                    <a:pt x="10450957" y="0"/>
                    <a:pt x="10553700" y="102743"/>
                    <a:pt x="10553700" y="229489"/>
                  </a:cubicBezTo>
                  <a:lnTo>
                    <a:pt x="10553700" y="4571111"/>
                  </a:lnTo>
                  <a:cubicBezTo>
                    <a:pt x="10553700" y="4697857"/>
                    <a:pt x="10450957" y="4800600"/>
                    <a:pt x="10324211" y="4800600"/>
                  </a:cubicBezTo>
                  <a:lnTo>
                    <a:pt x="229489" y="4800600"/>
                  </a:lnTo>
                  <a:cubicBezTo>
                    <a:pt x="102743" y="4800600"/>
                    <a:pt x="0" y="4697857"/>
                    <a:pt x="0" y="457111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4053183"/>
            <a:ext cx="7872412" cy="3443288"/>
            <a:chOff x="0" y="0"/>
            <a:chExt cx="10496550" cy="4591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96550" cy="4591050"/>
            </a:xfrm>
            <a:custGeom>
              <a:avLst/>
              <a:gdLst/>
              <a:ahLst/>
              <a:cxnLst/>
              <a:rect r="r" b="b" t="t" l="l"/>
              <a:pathLst>
                <a:path h="4591050" w="104965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267950" y="0"/>
                  </a:lnTo>
                  <a:cubicBezTo>
                    <a:pt x="10394188" y="0"/>
                    <a:pt x="10496550" y="102362"/>
                    <a:pt x="10496550" y="228600"/>
                  </a:cubicBezTo>
                  <a:lnTo>
                    <a:pt x="10496550" y="4362450"/>
                  </a:lnTo>
                  <a:cubicBezTo>
                    <a:pt x="10496550" y="4488688"/>
                    <a:pt x="10394188" y="4591050"/>
                    <a:pt x="10267950" y="4591050"/>
                  </a:cubicBezTo>
                  <a:lnTo>
                    <a:pt x="228600" y="4591050"/>
                  </a:lnTo>
                  <a:cubicBezTo>
                    <a:pt x="102362" y="4591050"/>
                    <a:pt x="0" y="4488688"/>
                    <a:pt x="0" y="43624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51244" y="5031877"/>
            <a:ext cx="6972300" cy="2014538"/>
            <a:chOff x="0" y="0"/>
            <a:chExt cx="9296400" cy="2686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6400" cy="2686050"/>
            </a:xfrm>
            <a:custGeom>
              <a:avLst/>
              <a:gdLst/>
              <a:ahLst/>
              <a:cxnLst/>
              <a:rect r="r" b="b" t="t" l="l"/>
              <a:pathLst>
                <a:path h="2686050" w="929640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9142857" y="0"/>
                  </a:lnTo>
                  <a:cubicBezTo>
                    <a:pt x="9227693" y="0"/>
                    <a:pt x="9296400" y="68707"/>
                    <a:pt x="9296400" y="153543"/>
                  </a:cubicBezTo>
                  <a:lnTo>
                    <a:pt x="9296400" y="2532507"/>
                  </a:lnTo>
                  <a:cubicBezTo>
                    <a:pt x="9296400" y="2617216"/>
                    <a:pt x="9227693" y="2686050"/>
                    <a:pt x="9142857" y="2686050"/>
                  </a:cubicBezTo>
                  <a:lnTo>
                    <a:pt x="153543" y="2686050"/>
                  </a:lnTo>
                  <a:cubicBezTo>
                    <a:pt x="68707" y="2686050"/>
                    <a:pt x="0" y="2617343"/>
                    <a:pt x="0" y="2532507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ALERT OPERATIONS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Detection &amp; Telegram Notification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888" y="4443708"/>
            <a:ext cx="913238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Key Operational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88631" y="4510383"/>
            <a:ext cx="8697516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TELEGRAM ALERT PREVIEW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888" y="5072358"/>
            <a:ext cx="869751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3 Rules: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One per ATLAS technique class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5888" y="5629570"/>
            <a:ext cx="869751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60s Cooldown: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Prevents alert flooding per 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5888" y="6186783"/>
            <a:ext cx="86975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Alert Suppression: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50 alerts → 2 alerts under attack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5888" y="6758283"/>
            <a:ext cx="869751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Delivery Latency: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Telegram delivery within 35s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58425" y="5339058"/>
            <a:ext cx="794742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[ALERT] Model Extraction Volume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8425" y="5701008"/>
            <a:ext cx="650081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IP: 192.168.1.45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Rule: extraction_volume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Trigger: 20 req / 60s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Time: 2026-03-27 14:22:01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695995"/>
            <a:ext cx="8072438" cy="1914525"/>
            <a:chOff x="0" y="0"/>
            <a:chExt cx="10763250" cy="255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325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76325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10532999" y="0"/>
                  </a:lnTo>
                  <a:cubicBezTo>
                    <a:pt x="10660253" y="0"/>
                    <a:pt x="10763250" y="103124"/>
                    <a:pt x="10763250" y="230251"/>
                  </a:cubicBezTo>
                  <a:lnTo>
                    <a:pt x="10763250" y="2322449"/>
                  </a:lnTo>
                  <a:cubicBezTo>
                    <a:pt x="10763250" y="2449703"/>
                    <a:pt x="10660126" y="2552700"/>
                    <a:pt x="10532999" y="2552700"/>
                  </a:cubicBezTo>
                  <a:lnTo>
                    <a:pt x="230251" y="2552700"/>
                  </a:lnTo>
                  <a:cubicBezTo>
                    <a:pt x="103124" y="2552700"/>
                    <a:pt x="0" y="2449576"/>
                    <a:pt x="0" y="23224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08306" y="3695995"/>
            <a:ext cx="8072438" cy="1914525"/>
            <a:chOff x="0" y="0"/>
            <a:chExt cx="10763250" cy="255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6325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76325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10532999" y="0"/>
                  </a:lnTo>
                  <a:cubicBezTo>
                    <a:pt x="10660253" y="0"/>
                    <a:pt x="10763250" y="103124"/>
                    <a:pt x="10763250" y="230251"/>
                  </a:cubicBezTo>
                  <a:lnTo>
                    <a:pt x="10763250" y="2322449"/>
                  </a:lnTo>
                  <a:cubicBezTo>
                    <a:pt x="10763250" y="2449703"/>
                    <a:pt x="10660126" y="2552700"/>
                    <a:pt x="10532999" y="2552700"/>
                  </a:cubicBezTo>
                  <a:lnTo>
                    <a:pt x="230251" y="2552700"/>
                  </a:lnTo>
                  <a:cubicBezTo>
                    <a:pt x="103124" y="2552700"/>
                    <a:pt x="0" y="2449576"/>
                    <a:pt x="0" y="23224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5939133"/>
            <a:ext cx="8072438" cy="1914525"/>
            <a:chOff x="0" y="0"/>
            <a:chExt cx="10763250" cy="255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325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76325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10532999" y="0"/>
                  </a:lnTo>
                  <a:cubicBezTo>
                    <a:pt x="10660253" y="0"/>
                    <a:pt x="10763250" y="103124"/>
                    <a:pt x="10763250" y="230251"/>
                  </a:cubicBezTo>
                  <a:lnTo>
                    <a:pt x="10763250" y="2322449"/>
                  </a:lnTo>
                  <a:cubicBezTo>
                    <a:pt x="10763250" y="2449703"/>
                    <a:pt x="10660126" y="2552700"/>
                    <a:pt x="10532999" y="2552700"/>
                  </a:cubicBezTo>
                  <a:lnTo>
                    <a:pt x="230251" y="2552700"/>
                  </a:lnTo>
                  <a:cubicBezTo>
                    <a:pt x="103124" y="2552700"/>
                    <a:pt x="0" y="2449576"/>
                    <a:pt x="0" y="23224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08306" y="5939133"/>
            <a:ext cx="8072438" cy="1914525"/>
            <a:chOff x="0" y="0"/>
            <a:chExt cx="10763250" cy="255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3250" cy="2552700"/>
            </a:xfrm>
            <a:custGeom>
              <a:avLst/>
              <a:gdLst/>
              <a:ahLst/>
              <a:cxnLst/>
              <a:rect r="r" b="b" t="t" l="l"/>
              <a:pathLst>
                <a:path h="2552700" w="1076325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10532999" y="0"/>
                  </a:lnTo>
                  <a:cubicBezTo>
                    <a:pt x="10660253" y="0"/>
                    <a:pt x="10763250" y="103124"/>
                    <a:pt x="10763250" y="230251"/>
                  </a:cubicBezTo>
                  <a:lnTo>
                    <a:pt x="10763250" y="2322449"/>
                  </a:lnTo>
                  <a:cubicBezTo>
                    <a:pt x="10763250" y="2449703"/>
                    <a:pt x="10660126" y="2552700"/>
                    <a:pt x="10532999" y="2552700"/>
                  </a:cubicBezTo>
                  <a:lnTo>
                    <a:pt x="230251" y="2552700"/>
                  </a:lnTo>
                  <a:cubicBezTo>
                    <a:pt x="103124" y="2552700"/>
                    <a:pt x="0" y="2449576"/>
                    <a:pt x="0" y="23224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7905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KEY LESSONS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143000"/>
            <a:ext cx="17373600" cy="5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What I Learned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4098427"/>
            <a:ext cx="9488681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Attacking is Easy. Defending is Hard.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4569914"/>
            <a:ext cx="73723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FGSM took five lines of code. Adversarial training took 20 epochs and cost clean accuracy.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9788" y="4098427"/>
            <a:ext cx="855821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Adversarial Training is a Trade-Off.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9788" y="4569914"/>
            <a:ext cx="73723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Robust accuracy at ε=8/255 is 0.18 for PGD. The model resists, but does not defeat.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8738" y="6341564"/>
            <a:ext cx="9488681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Detection is Not Prevention.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8738" y="6813052"/>
            <a:ext cx="73723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detector sees the attack but doesn't block it. Rate limiters perform the enforcement.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9788" y="6341564"/>
            <a:ext cx="855821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4. Documentation is the Deliverable.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9788" y="6813052"/>
            <a:ext cx="73723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Attacks only matter if reproducible. Every single metric in this deck is backed by results files.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0058400" cy="10287000"/>
            <a:chOff x="0" y="0"/>
            <a:chExt cx="134112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D1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277566"/>
            <a:ext cx="5972175" cy="757238"/>
            <a:chOff x="0" y="0"/>
            <a:chExt cx="7962900" cy="1009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62900" cy="1009650"/>
            </a:xfrm>
            <a:custGeom>
              <a:avLst/>
              <a:gdLst/>
              <a:ahLst/>
              <a:cxnLst/>
              <a:rect r="r" b="b" t="t" l="l"/>
              <a:pathLst>
                <a:path h="1009650" w="79629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10500" y="0"/>
                  </a:lnTo>
                  <a:cubicBezTo>
                    <a:pt x="7894701" y="0"/>
                    <a:pt x="7962900" y="68199"/>
                    <a:pt x="7962900" y="152400"/>
                  </a:cubicBezTo>
                  <a:lnTo>
                    <a:pt x="7962900" y="857250"/>
                  </a:lnTo>
                  <a:cubicBezTo>
                    <a:pt x="7962900" y="941451"/>
                    <a:pt x="7894701" y="1009650"/>
                    <a:pt x="7810500" y="1009650"/>
                  </a:cubicBezTo>
                  <a:lnTo>
                    <a:pt x="152400" y="1009650"/>
                  </a:lnTo>
                  <a:cubicBezTo>
                    <a:pt x="68199" y="1009650"/>
                    <a:pt x="0" y="941451"/>
                    <a:pt x="0" y="85725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2447325"/>
            <a:ext cx="8791099" cy="248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Detection without remediation is observation.</a:t>
            </a:r>
          </a:p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EF4444"/>
                </a:solidFill>
                <a:latin typeface="Arimo Bold"/>
                <a:ea typeface="Arimo Bold"/>
                <a:cs typeface="Arimo Bold"/>
                <a:sym typeface="Arimo Bold"/>
              </a:rPr>
              <a:t>Remediation without detection is guesswork.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44091"/>
            <a:ext cx="10287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This assessment does both.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7482478"/>
            <a:ext cx="280130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Kirubel M. Sahle ·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" y="6506166"/>
            <a:ext cx="66079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github.com/piVentures/ai-redteam-project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8647" y="8234953"/>
            <a:ext cx="14335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DAHWaflpCgE</dc:identifier>
  <dcterms:modified xsi:type="dcterms:W3CDTF">2011-08-01T06:04:30Z</dcterms:modified>
  <cp:revision>1</cp:revision>
  <dc:title>AI Red Team Assessment.pptx</dc:title>
</cp:coreProperties>
</file>